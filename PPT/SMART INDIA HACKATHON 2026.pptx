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ptos Bold" charset="1" panose="020B0004020202020204"/>
      <p:regular r:id="rId12"/>
    </p:embeddedFont>
    <p:embeddedFont>
      <p:font typeface="Aptos" charset="1" panose="020B0004020202020204"/>
      <p:regular r:id="rId13"/>
    </p:embeddedFont>
    <p:embeddedFont>
      <p:font typeface="Arimo" charset="1" panose="020B0604020202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54033" y="2345222"/>
            <a:ext cx="4805267" cy="5139357"/>
            <a:chOff x="0" y="0"/>
            <a:chExt cx="6407023" cy="6852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49475" b="-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163050"/>
            <a:ext cx="18288000" cy="3086100"/>
            <a:chOff x="0" y="0"/>
            <a:chExt cx="4816593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27661" y="1412635"/>
            <a:ext cx="11254631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4"/>
              </a:lnSpc>
            </a:pPr>
            <a:r>
              <a:rPr lang="en-US" sz="3612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COOPERATIVE GIG SERVICES</a:t>
            </a:r>
          </a:p>
          <a:p>
            <a:pPr algn="l">
              <a:lnSpc>
                <a:spcPts val="4334"/>
              </a:lnSpc>
            </a:pPr>
            <a:r>
              <a:rPr lang="en-US" sz="3612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PLATFORM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7661" y="2518410"/>
            <a:ext cx="1024128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>
                <a:solidFill>
                  <a:srgbClr val="5A646E"/>
                </a:solidFill>
                <a:latin typeface="Aptos"/>
                <a:ea typeface="Aptos"/>
                <a:cs typeface="Aptos"/>
                <a:sym typeface="Aptos"/>
              </a:rPr>
              <a:t>A cooperative-owned digital marketplace connecting verified cooperative workers with households and institutions.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2980" y="3680460"/>
            <a:ext cx="420624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5A646E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 ID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2980" y="3995928"/>
            <a:ext cx="427482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>
                <a:solidFill>
                  <a:srgbClr val="1F3B66"/>
                </a:solidFill>
                <a:latin typeface="Aptos"/>
                <a:ea typeface="Aptos"/>
                <a:cs typeface="Aptos"/>
                <a:sym typeface="Aptos"/>
              </a:rPr>
              <a:t>SIH - 26089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52160" y="3680460"/>
            <a:ext cx="420624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5A646E"/>
                </a:solidFill>
                <a:latin typeface="Aptos Bold"/>
                <a:ea typeface="Aptos Bold"/>
                <a:cs typeface="Aptos Bold"/>
                <a:sym typeface="Aptos Bold"/>
              </a:rPr>
              <a:t>THEME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52160" y="3995928"/>
            <a:ext cx="427482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>
                <a:solidFill>
                  <a:srgbClr val="1F3B66"/>
                </a:solidFill>
                <a:latin typeface="Aptos"/>
                <a:ea typeface="Aptos"/>
                <a:cs typeface="Aptos"/>
                <a:sym typeface="Aptos"/>
              </a:rPr>
              <a:t>Agriculture, FoodTech &amp; Rural Development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2980" y="4924425"/>
            <a:ext cx="136207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b="true">
                <a:solidFill>
                  <a:srgbClr val="5A646E"/>
                </a:solidFill>
                <a:latin typeface="Aptos Bold"/>
                <a:ea typeface="Aptos Bold"/>
                <a:cs typeface="Aptos Bold"/>
                <a:sym typeface="Aptos Bold"/>
              </a:rPr>
              <a:t>ORGANIZATION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2980" y="5230368"/>
            <a:ext cx="427482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>
                <a:solidFill>
                  <a:srgbClr val="1F3B66"/>
                </a:solidFill>
                <a:latin typeface="Aptos"/>
                <a:ea typeface="Aptos"/>
                <a:cs typeface="Aptos"/>
                <a:sym typeface="Aptos"/>
              </a:rPr>
              <a:t>Ministry of Cooperation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52160" y="4924425"/>
            <a:ext cx="119348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b="true">
                <a:solidFill>
                  <a:srgbClr val="5A646E"/>
                </a:solidFill>
                <a:latin typeface="Aptos Bold"/>
                <a:ea typeface="Aptos Bold"/>
                <a:cs typeface="Aptos Bold"/>
                <a:sym typeface="Aptos Bold"/>
              </a:rPr>
              <a:t>DEPARTMENT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52160" y="5230368"/>
            <a:ext cx="427482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>
                <a:solidFill>
                  <a:srgbClr val="1F3B66"/>
                </a:solidFill>
                <a:latin typeface="Aptos"/>
                <a:ea typeface="Aptos"/>
                <a:cs typeface="Aptos"/>
                <a:sym typeface="Aptos"/>
              </a:rPr>
              <a:t>National Council for Cooperative Training (NCCT)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2980" y="6158865"/>
            <a:ext cx="1235273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b="true">
                <a:solidFill>
                  <a:srgbClr val="5A646E"/>
                </a:solidFill>
                <a:latin typeface="Aptos Bold"/>
                <a:ea typeface="Aptos Bold"/>
                <a:cs typeface="Aptos Bold"/>
                <a:sym typeface="Aptos Bold"/>
              </a:rPr>
              <a:t>PS CATEGORY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980" y="6464808"/>
            <a:ext cx="427482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>
                <a:solidFill>
                  <a:srgbClr val="1F3B66"/>
                </a:solidFill>
                <a:latin typeface="Aptos"/>
                <a:ea typeface="Aptos"/>
                <a:cs typeface="Aptos"/>
                <a:sym typeface="Aptos"/>
              </a:rPr>
              <a:t>Software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52160" y="6158865"/>
            <a:ext cx="47982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b="true">
                <a:solidFill>
                  <a:srgbClr val="5A646E"/>
                </a:solidFill>
                <a:latin typeface="Aptos Bold"/>
                <a:ea typeface="Aptos Bold"/>
                <a:cs typeface="Aptos Bold"/>
                <a:sym typeface="Aptos Bold"/>
              </a:rPr>
              <a:t>TEAM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52160" y="6464808"/>
            <a:ext cx="427482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>
                <a:solidFill>
                  <a:srgbClr val="1F3B66"/>
                </a:solidFill>
                <a:latin typeface="Aptos"/>
                <a:ea typeface="Aptos"/>
                <a:cs typeface="Aptos"/>
                <a:sym typeface="Aptos"/>
              </a:rPr>
              <a:t>Console Log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2980" y="7256145"/>
            <a:ext cx="242256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 b="true">
                <a:solidFill>
                  <a:srgbClr val="5A646E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 TITLE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2980" y="7589520"/>
            <a:ext cx="1051560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Cooperative Gig Services Platform for Household &amp; Community Services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7661" y="231535"/>
            <a:ext cx="1118829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8"/>
              </a:lnSpc>
              <a:spcBef>
                <a:spcPct val="0"/>
              </a:spcBef>
            </a:pPr>
            <a:r>
              <a:rPr lang="en-US" b="true" sz="5624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SMART INDIA HACKATHON 2026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360265" y="9465919"/>
            <a:ext cx="49744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sz="336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01 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815290" y="9364803"/>
            <a:ext cx="4806001" cy="547688"/>
            <a:chOff x="0" y="0"/>
            <a:chExt cx="6408001" cy="7302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Console-Log SIH-26089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3086100"/>
            <a:chOff x="0" y="0"/>
            <a:chExt cx="481659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05765" y="9364803"/>
            <a:ext cx="4806001" cy="547688"/>
            <a:chOff x="0" y="0"/>
            <a:chExt cx="6408001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Console-Log SIH-26089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360265" y="9465919"/>
            <a:ext cx="49744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sz="336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63540" y="590864"/>
            <a:ext cx="336581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SEVA - SETU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62227" y="1390964"/>
            <a:ext cx="1016888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PROPOSED SOLUTION — COOPERATIVE SERVICE MARKETPLACE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44855" y="2322195"/>
            <a:ext cx="2556510" cy="1253490"/>
            <a:chOff x="0" y="0"/>
            <a:chExt cx="3408680" cy="16713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08680" cy="1671193"/>
            </a:xfrm>
            <a:custGeom>
              <a:avLst/>
              <a:gdLst/>
              <a:ahLst/>
              <a:cxnLst/>
              <a:rect r="r" b="b" t="t" l="l"/>
              <a:pathLst>
                <a:path h="1671193" w="3408680">
                  <a:moveTo>
                    <a:pt x="0" y="278511"/>
                  </a:moveTo>
                  <a:cubicBezTo>
                    <a:pt x="0" y="124714"/>
                    <a:pt x="124714" y="0"/>
                    <a:pt x="278511" y="0"/>
                  </a:cubicBezTo>
                  <a:lnTo>
                    <a:pt x="3130169" y="0"/>
                  </a:lnTo>
                  <a:cubicBezTo>
                    <a:pt x="3283966" y="0"/>
                    <a:pt x="3408680" y="124714"/>
                    <a:pt x="3408680" y="278511"/>
                  </a:cubicBezTo>
                  <a:lnTo>
                    <a:pt x="3408680" y="1392682"/>
                  </a:lnTo>
                  <a:cubicBezTo>
                    <a:pt x="3408680" y="1546479"/>
                    <a:pt x="3283966" y="1671193"/>
                    <a:pt x="3130169" y="1671193"/>
                  </a:cubicBezTo>
                  <a:lnTo>
                    <a:pt x="278511" y="1671193"/>
                  </a:lnTo>
                  <a:cubicBezTo>
                    <a:pt x="124714" y="1671320"/>
                    <a:pt x="0" y="1546606"/>
                    <a:pt x="0" y="1392809"/>
                  </a:cubicBezTo>
                  <a:close/>
                </a:path>
              </a:pathLst>
            </a:custGeom>
            <a:solidFill>
              <a:srgbClr val="DCE8F5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408680" cy="167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COOPERATIVE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WORKFORCE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417180">
            <a:off x="3271628" y="2939415"/>
            <a:ext cx="314735" cy="0"/>
          </a:xfrm>
          <a:prstGeom prst="line">
            <a:avLst/>
          </a:prstGeom>
          <a:ln cap="rnd" w="19050">
            <a:solidFill>
              <a:srgbClr val="0070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3556635" y="2322195"/>
            <a:ext cx="2556510" cy="1253490"/>
            <a:chOff x="0" y="0"/>
            <a:chExt cx="3408680" cy="1671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08680" cy="1671193"/>
            </a:xfrm>
            <a:custGeom>
              <a:avLst/>
              <a:gdLst/>
              <a:ahLst/>
              <a:cxnLst/>
              <a:rect r="r" b="b" t="t" l="l"/>
              <a:pathLst>
                <a:path h="1671193" w="3408680">
                  <a:moveTo>
                    <a:pt x="0" y="278511"/>
                  </a:moveTo>
                  <a:cubicBezTo>
                    <a:pt x="0" y="124714"/>
                    <a:pt x="124714" y="0"/>
                    <a:pt x="278511" y="0"/>
                  </a:cubicBezTo>
                  <a:lnTo>
                    <a:pt x="3130169" y="0"/>
                  </a:lnTo>
                  <a:cubicBezTo>
                    <a:pt x="3283966" y="0"/>
                    <a:pt x="3408680" y="124714"/>
                    <a:pt x="3408680" y="278511"/>
                  </a:cubicBezTo>
                  <a:lnTo>
                    <a:pt x="3408680" y="1392682"/>
                  </a:lnTo>
                  <a:cubicBezTo>
                    <a:pt x="3408680" y="1546479"/>
                    <a:pt x="3283966" y="1671193"/>
                    <a:pt x="3130169" y="1671193"/>
                  </a:cubicBezTo>
                  <a:lnTo>
                    <a:pt x="278511" y="1671193"/>
                  </a:lnTo>
                  <a:cubicBezTo>
                    <a:pt x="124714" y="1671320"/>
                    <a:pt x="0" y="1546606"/>
                    <a:pt x="0" y="1392809"/>
                  </a:cubicBezTo>
                  <a:close/>
                </a:path>
              </a:pathLst>
            </a:custGeom>
            <a:solidFill>
              <a:srgbClr val="DCE8F5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408680" cy="167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VERIFY +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PROFILE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417180">
            <a:off x="6083408" y="2939415"/>
            <a:ext cx="314735" cy="0"/>
          </a:xfrm>
          <a:prstGeom prst="line">
            <a:avLst/>
          </a:prstGeom>
          <a:ln cap="rnd" w="19050">
            <a:solidFill>
              <a:srgbClr val="0070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6368415" y="2322195"/>
            <a:ext cx="2556510" cy="1253490"/>
            <a:chOff x="0" y="0"/>
            <a:chExt cx="3408680" cy="16713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08680" cy="1671193"/>
            </a:xfrm>
            <a:custGeom>
              <a:avLst/>
              <a:gdLst/>
              <a:ahLst/>
              <a:cxnLst/>
              <a:rect r="r" b="b" t="t" l="l"/>
              <a:pathLst>
                <a:path h="1671193" w="3408680">
                  <a:moveTo>
                    <a:pt x="0" y="278511"/>
                  </a:moveTo>
                  <a:cubicBezTo>
                    <a:pt x="0" y="124714"/>
                    <a:pt x="124714" y="0"/>
                    <a:pt x="278511" y="0"/>
                  </a:cubicBezTo>
                  <a:lnTo>
                    <a:pt x="3130169" y="0"/>
                  </a:lnTo>
                  <a:cubicBezTo>
                    <a:pt x="3283966" y="0"/>
                    <a:pt x="3408680" y="124714"/>
                    <a:pt x="3408680" y="278511"/>
                  </a:cubicBezTo>
                  <a:lnTo>
                    <a:pt x="3408680" y="1392682"/>
                  </a:lnTo>
                  <a:cubicBezTo>
                    <a:pt x="3408680" y="1546479"/>
                    <a:pt x="3283966" y="1671193"/>
                    <a:pt x="3130169" y="1671193"/>
                  </a:cubicBezTo>
                  <a:lnTo>
                    <a:pt x="278511" y="1671193"/>
                  </a:lnTo>
                  <a:cubicBezTo>
                    <a:pt x="124714" y="1671320"/>
                    <a:pt x="0" y="1546606"/>
                    <a:pt x="0" y="1392809"/>
                  </a:cubicBezTo>
                  <a:close/>
                </a:path>
              </a:pathLst>
            </a:custGeom>
            <a:solidFill>
              <a:srgbClr val="DCE8F5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408680" cy="167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CUSTOMER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REQUEST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417180">
            <a:off x="8895188" y="2939415"/>
            <a:ext cx="314735" cy="0"/>
          </a:xfrm>
          <a:prstGeom prst="line">
            <a:avLst/>
          </a:prstGeom>
          <a:ln cap="rnd" w="19050">
            <a:solidFill>
              <a:srgbClr val="0070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9180195" y="2322195"/>
            <a:ext cx="2556510" cy="1253490"/>
            <a:chOff x="0" y="0"/>
            <a:chExt cx="3408680" cy="1671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08680" cy="1671193"/>
            </a:xfrm>
            <a:custGeom>
              <a:avLst/>
              <a:gdLst/>
              <a:ahLst/>
              <a:cxnLst/>
              <a:rect r="r" b="b" t="t" l="l"/>
              <a:pathLst>
                <a:path h="1671193" w="3408680">
                  <a:moveTo>
                    <a:pt x="0" y="278511"/>
                  </a:moveTo>
                  <a:cubicBezTo>
                    <a:pt x="0" y="124714"/>
                    <a:pt x="124714" y="0"/>
                    <a:pt x="278511" y="0"/>
                  </a:cubicBezTo>
                  <a:lnTo>
                    <a:pt x="3130169" y="0"/>
                  </a:lnTo>
                  <a:cubicBezTo>
                    <a:pt x="3283966" y="0"/>
                    <a:pt x="3408680" y="124714"/>
                    <a:pt x="3408680" y="278511"/>
                  </a:cubicBezTo>
                  <a:lnTo>
                    <a:pt x="3408680" y="1392682"/>
                  </a:lnTo>
                  <a:cubicBezTo>
                    <a:pt x="3408680" y="1546479"/>
                    <a:pt x="3283966" y="1671193"/>
                    <a:pt x="3130169" y="1671193"/>
                  </a:cubicBezTo>
                  <a:lnTo>
                    <a:pt x="278511" y="1671193"/>
                  </a:lnTo>
                  <a:cubicBezTo>
                    <a:pt x="124714" y="1671320"/>
                    <a:pt x="0" y="1546606"/>
                    <a:pt x="0" y="1392809"/>
                  </a:cubicBezTo>
                  <a:close/>
                </a:path>
              </a:pathLst>
            </a:custGeom>
            <a:solidFill>
              <a:srgbClr val="DCE8F5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3408680" cy="167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SKILL + LOCATION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MATCHING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417180">
            <a:off x="11706968" y="2939415"/>
            <a:ext cx="314735" cy="0"/>
          </a:xfrm>
          <a:prstGeom prst="line">
            <a:avLst/>
          </a:prstGeom>
          <a:ln cap="rnd" w="19050">
            <a:solidFill>
              <a:srgbClr val="0070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1991975" y="2322195"/>
            <a:ext cx="2556510" cy="1253490"/>
            <a:chOff x="0" y="0"/>
            <a:chExt cx="3408680" cy="16713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08680" cy="1671193"/>
            </a:xfrm>
            <a:custGeom>
              <a:avLst/>
              <a:gdLst/>
              <a:ahLst/>
              <a:cxnLst/>
              <a:rect r="r" b="b" t="t" l="l"/>
              <a:pathLst>
                <a:path h="1671193" w="3408680">
                  <a:moveTo>
                    <a:pt x="0" y="278511"/>
                  </a:moveTo>
                  <a:cubicBezTo>
                    <a:pt x="0" y="124714"/>
                    <a:pt x="124714" y="0"/>
                    <a:pt x="278511" y="0"/>
                  </a:cubicBezTo>
                  <a:lnTo>
                    <a:pt x="3130169" y="0"/>
                  </a:lnTo>
                  <a:cubicBezTo>
                    <a:pt x="3283966" y="0"/>
                    <a:pt x="3408680" y="124714"/>
                    <a:pt x="3408680" y="278511"/>
                  </a:cubicBezTo>
                  <a:lnTo>
                    <a:pt x="3408680" y="1392682"/>
                  </a:lnTo>
                  <a:cubicBezTo>
                    <a:pt x="3408680" y="1546479"/>
                    <a:pt x="3283966" y="1671193"/>
                    <a:pt x="3130169" y="1671193"/>
                  </a:cubicBezTo>
                  <a:lnTo>
                    <a:pt x="278511" y="1671193"/>
                  </a:lnTo>
                  <a:cubicBezTo>
                    <a:pt x="124714" y="1671320"/>
                    <a:pt x="0" y="1546606"/>
                    <a:pt x="0" y="1392809"/>
                  </a:cubicBezTo>
                  <a:close/>
                </a:path>
              </a:pathLst>
            </a:custGeom>
            <a:solidFill>
              <a:srgbClr val="E6F0E8"/>
            </a:solidFill>
            <a:ln w="19050" cap="sq">
              <a:solidFill>
                <a:srgbClr val="2E7D5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408680" cy="167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BOOK +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SERVICE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17180">
            <a:off x="14518748" y="2939415"/>
            <a:ext cx="314735" cy="0"/>
          </a:xfrm>
          <a:prstGeom prst="line">
            <a:avLst/>
          </a:prstGeom>
          <a:ln cap="rnd" w="19050">
            <a:solidFill>
              <a:srgbClr val="0070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4803755" y="2322195"/>
            <a:ext cx="2556510" cy="1253490"/>
            <a:chOff x="0" y="0"/>
            <a:chExt cx="3408680" cy="16713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08680" cy="1671193"/>
            </a:xfrm>
            <a:custGeom>
              <a:avLst/>
              <a:gdLst/>
              <a:ahLst/>
              <a:cxnLst/>
              <a:rect r="r" b="b" t="t" l="l"/>
              <a:pathLst>
                <a:path h="1671193" w="3408680">
                  <a:moveTo>
                    <a:pt x="0" y="278511"/>
                  </a:moveTo>
                  <a:cubicBezTo>
                    <a:pt x="0" y="124714"/>
                    <a:pt x="124714" y="0"/>
                    <a:pt x="278511" y="0"/>
                  </a:cubicBezTo>
                  <a:lnTo>
                    <a:pt x="3130169" y="0"/>
                  </a:lnTo>
                  <a:cubicBezTo>
                    <a:pt x="3283966" y="0"/>
                    <a:pt x="3408680" y="124714"/>
                    <a:pt x="3408680" y="278511"/>
                  </a:cubicBezTo>
                  <a:lnTo>
                    <a:pt x="3408680" y="1392682"/>
                  </a:lnTo>
                  <a:cubicBezTo>
                    <a:pt x="3408680" y="1546479"/>
                    <a:pt x="3283966" y="1671193"/>
                    <a:pt x="3130169" y="1671193"/>
                  </a:cubicBezTo>
                  <a:lnTo>
                    <a:pt x="278511" y="1671193"/>
                  </a:lnTo>
                  <a:cubicBezTo>
                    <a:pt x="124714" y="1671320"/>
                    <a:pt x="0" y="1546606"/>
                    <a:pt x="0" y="1392809"/>
                  </a:cubicBezTo>
                  <a:close/>
                </a:path>
              </a:pathLst>
            </a:custGeom>
            <a:solidFill>
              <a:srgbClr val="E6F0E8"/>
            </a:solidFill>
            <a:ln w="19050" cap="sq">
              <a:solidFill>
                <a:srgbClr val="2E7D5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408680" cy="1671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PAYMENT +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RATING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82015" y="4311015"/>
            <a:ext cx="4888230" cy="814578"/>
            <a:chOff x="0" y="0"/>
            <a:chExt cx="6517640" cy="10861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517640" cy="1086104"/>
            </a:xfrm>
            <a:custGeom>
              <a:avLst/>
              <a:gdLst/>
              <a:ahLst/>
              <a:cxnLst/>
              <a:rect r="r" b="b" t="t" l="l"/>
              <a:pathLst>
                <a:path h="1086104" w="6517640">
                  <a:moveTo>
                    <a:pt x="0" y="180975"/>
                  </a:moveTo>
                  <a:cubicBezTo>
                    <a:pt x="0" y="81026"/>
                    <a:pt x="81026" y="0"/>
                    <a:pt x="180975" y="0"/>
                  </a:cubicBezTo>
                  <a:lnTo>
                    <a:pt x="6336665" y="0"/>
                  </a:lnTo>
                  <a:cubicBezTo>
                    <a:pt x="6436614" y="0"/>
                    <a:pt x="6517640" y="81026"/>
                    <a:pt x="6517640" y="180975"/>
                  </a:cubicBezTo>
                  <a:lnTo>
                    <a:pt x="6517640" y="905129"/>
                  </a:lnTo>
                  <a:cubicBezTo>
                    <a:pt x="6517640" y="1005078"/>
                    <a:pt x="6436614" y="1086104"/>
                    <a:pt x="6336665" y="1086104"/>
                  </a:cubicBezTo>
                  <a:lnTo>
                    <a:pt x="180975" y="1086104"/>
                  </a:lnTo>
                  <a:cubicBezTo>
                    <a:pt x="81026" y="1086104"/>
                    <a:pt x="0" y="1005078"/>
                    <a:pt x="0" y="905129"/>
                  </a:cubicBezTo>
                  <a:close/>
                </a:path>
              </a:pathLst>
            </a:custGeom>
            <a:solidFill>
              <a:srgbClr val="DCE8F5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6517640" cy="1086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VERIFIED WORKER REGISTRY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120140" y="5326380"/>
            <a:ext cx="434340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50688B"/>
                </a:solidFill>
                <a:latin typeface="Aptos"/>
                <a:ea typeface="Aptos"/>
                <a:cs typeface="Aptos"/>
                <a:sym typeface="Aptos"/>
              </a:rPr>
              <a:t>• Skill/certification profile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50688B"/>
                </a:solidFill>
                <a:latin typeface="Aptos"/>
                <a:ea typeface="Aptos"/>
                <a:cs typeface="Aptos"/>
                <a:sym typeface="Aptos"/>
              </a:rPr>
              <a:t>• Cooperative verification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50688B"/>
                </a:solidFill>
                <a:latin typeface="Aptos"/>
                <a:ea typeface="Aptos"/>
                <a:cs typeface="Aptos"/>
                <a:sym typeface="Aptos"/>
              </a:rPr>
              <a:t>• Availability status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231255" y="4311015"/>
            <a:ext cx="4888230" cy="814578"/>
            <a:chOff x="0" y="0"/>
            <a:chExt cx="6517640" cy="10861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17640" cy="1086104"/>
            </a:xfrm>
            <a:custGeom>
              <a:avLst/>
              <a:gdLst/>
              <a:ahLst/>
              <a:cxnLst/>
              <a:rect r="r" b="b" t="t" l="l"/>
              <a:pathLst>
                <a:path h="1086104" w="6517640">
                  <a:moveTo>
                    <a:pt x="0" y="180975"/>
                  </a:moveTo>
                  <a:cubicBezTo>
                    <a:pt x="0" y="81026"/>
                    <a:pt x="81026" y="0"/>
                    <a:pt x="180975" y="0"/>
                  </a:cubicBezTo>
                  <a:lnTo>
                    <a:pt x="6336665" y="0"/>
                  </a:lnTo>
                  <a:cubicBezTo>
                    <a:pt x="6436614" y="0"/>
                    <a:pt x="6517640" y="81026"/>
                    <a:pt x="6517640" y="180975"/>
                  </a:cubicBezTo>
                  <a:lnTo>
                    <a:pt x="6517640" y="905129"/>
                  </a:lnTo>
                  <a:cubicBezTo>
                    <a:pt x="6517640" y="1005078"/>
                    <a:pt x="6436614" y="1086104"/>
                    <a:pt x="6336665" y="1086104"/>
                  </a:cubicBezTo>
                  <a:lnTo>
                    <a:pt x="180975" y="1086104"/>
                  </a:lnTo>
                  <a:cubicBezTo>
                    <a:pt x="81026" y="1086104"/>
                    <a:pt x="0" y="1005078"/>
                    <a:pt x="0" y="905129"/>
                  </a:cubicBezTo>
                  <a:close/>
                </a:path>
              </a:pathLst>
            </a:custGeom>
            <a:solidFill>
              <a:srgbClr val="DCE8F5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6517640" cy="1086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INTELLIGENT SERVICE MATCHING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6469380" y="5326380"/>
            <a:ext cx="434340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50688B"/>
                </a:solidFill>
                <a:latin typeface="Aptos"/>
                <a:ea typeface="Aptos"/>
                <a:cs typeface="Aptos"/>
                <a:sym typeface="Aptos"/>
              </a:rPr>
              <a:t>• Service/category filter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50688B"/>
                </a:solidFill>
                <a:latin typeface="Aptos"/>
                <a:ea typeface="Aptos"/>
                <a:cs typeface="Aptos"/>
                <a:sym typeface="Aptos"/>
              </a:rPr>
              <a:t>• Location + service radius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50688B"/>
                </a:solidFill>
                <a:latin typeface="Aptos"/>
                <a:ea typeface="Aptos"/>
                <a:cs typeface="Aptos"/>
                <a:sym typeface="Aptos"/>
              </a:rPr>
              <a:t>• Verified + available workers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580495" y="4311015"/>
            <a:ext cx="4888230" cy="814578"/>
            <a:chOff x="0" y="0"/>
            <a:chExt cx="6517640" cy="108610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17640" cy="1086104"/>
            </a:xfrm>
            <a:custGeom>
              <a:avLst/>
              <a:gdLst/>
              <a:ahLst/>
              <a:cxnLst/>
              <a:rect r="r" b="b" t="t" l="l"/>
              <a:pathLst>
                <a:path h="1086104" w="6517640">
                  <a:moveTo>
                    <a:pt x="0" y="180975"/>
                  </a:moveTo>
                  <a:cubicBezTo>
                    <a:pt x="0" y="81026"/>
                    <a:pt x="81026" y="0"/>
                    <a:pt x="180975" y="0"/>
                  </a:cubicBezTo>
                  <a:lnTo>
                    <a:pt x="6336665" y="0"/>
                  </a:lnTo>
                  <a:cubicBezTo>
                    <a:pt x="6436614" y="0"/>
                    <a:pt x="6517640" y="81026"/>
                    <a:pt x="6517640" y="180975"/>
                  </a:cubicBezTo>
                  <a:lnTo>
                    <a:pt x="6517640" y="905129"/>
                  </a:lnTo>
                  <a:cubicBezTo>
                    <a:pt x="6517640" y="1005078"/>
                    <a:pt x="6436614" y="1086104"/>
                    <a:pt x="6336665" y="1086104"/>
                  </a:cubicBezTo>
                  <a:lnTo>
                    <a:pt x="180975" y="1086104"/>
                  </a:lnTo>
                  <a:cubicBezTo>
                    <a:pt x="81026" y="1086104"/>
                    <a:pt x="0" y="1005078"/>
                    <a:pt x="0" y="905129"/>
                  </a:cubicBezTo>
                  <a:close/>
                </a:path>
              </a:pathLst>
            </a:custGeom>
            <a:solidFill>
              <a:srgbClr val="F5EBDC"/>
            </a:solidFill>
            <a:ln w="19050" cap="sq">
              <a:solidFill>
                <a:srgbClr val="E89126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6517640" cy="1086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COOPERATIVE ADMINISTRATION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818620" y="5326380"/>
            <a:ext cx="434340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50688B"/>
                </a:solidFill>
                <a:latin typeface="Aptos"/>
                <a:ea typeface="Aptos"/>
                <a:cs typeface="Aptos"/>
                <a:sym typeface="Aptos"/>
              </a:rPr>
              <a:t>• Worker + booking oversight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50688B"/>
                </a:solidFill>
                <a:latin typeface="Aptos"/>
                <a:ea typeface="Aptos"/>
                <a:cs typeface="Aptos"/>
                <a:sym typeface="Aptos"/>
              </a:rPr>
              <a:t>• Demand/utilization insight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50688B"/>
                </a:solidFill>
                <a:latin typeface="Aptos"/>
                <a:ea typeface="Aptos"/>
                <a:cs typeface="Aptos"/>
                <a:sym typeface="Aptos"/>
              </a:rPr>
              <a:t>• Welfare information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82980" y="7795260"/>
            <a:ext cx="256032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5A646E"/>
                </a:solidFill>
                <a:latin typeface="Aptos Bold"/>
                <a:ea typeface="Aptos Bold"/>
                <a:cs typeface="Aptos Bold"/>
                <a:sym typeface="Aptos Bold"/>
              </a:rPr>
              <a:t>INNOVATION / UNIQUENESS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82980" y="8206740"/>
            <a:ext cx="1586484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A cooperative-owned coordination layer that digitizes an existing skilled workforce, verifies worker profiles, matches customers by skill + availability + location, and gives cooperatives visibility over bookings and demand.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45820" y="283083"/>
            <a:ext cx="201168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5A646E"/>
                </a:solidFill>
                <a:latin typeface="Aptos Bold"/>
                <a:ea typeface="Aptos Bold"/>
                <a:cs typeface="Aptos Bold"/>
                <a:sym typeface="Aptos Bold"/>
              </a:rPr>
              <a:t>01 - PROPOSED SOLUTION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45820" y="283083"/>
            <a:ext cx="201168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5A646E"/>
                </a:solidFill>
                <a:latin typeface="Aptos Bold"/>
                <a:ea typeface="Aptos Bold"/>
                <a:cs typeface="Aptos Bold"/>
                <a:sym typeface="Aptos Bold"/>
              </a:rPr>
              <a:t>02 · TECHNICAL APPROACH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34640" y="535305"/>
            <a:ext cx="1408176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TECHNICAL APPROACH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1339215"/>
            <a:ext cx="1627632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5A646E"/>
                </a:solidFill>
                <a:latin typeface="Aptos Bold"/>
                <a:ea typeface="Aptos Bold"/>
                <a:cs typeface="Aptos Bold"/>
                <a:sym typeface="Aptos Bold"/>
              </a:rPr>
              <a:t>SYSTEM ARCHITECTURE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82015" y="1773555"/>
            <a:ext cx="3859530" cy="773430"/>
            <a:chOff x="0" y="0"/>
            <a:chExt cx="5146040" cy="1031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460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5146040">
                  <a:moveTo>
                    <a:pt x="0" y="171831"/>
                  </a:moveTo>
                  <a:cubicBezTo>
                    <a:pt x="0" y="76962"/>
                    <a:pt x="76962" y="0"/>
                    <a:pt x="171831" y="0"/>
                  </a:cubicBezTo>
                  <a:lnTo>
                    <a:pt x="4974209" y="0"/>
                  </a:lnTo>
                  <a:cubicBezTo>
                    <a:pt x="5069078" y="0"/>
                    <a:pt x="5146040" y="76962"/>
                    <a:pt x="5146040" y="171831"/>
                  </a:cubicBezTo>
                  <a:lnTo>
                    <a:pt x="5146040" y="859409"/>
                  </a:lnTo>
                  <a:cubicBezTo>
                    <a:pt x="5146040" y="954278"/>
                    <a:pt x="5069078" y="1031240"/>
                    <a:pt x="4974209" y="1031240"/>
                  </a:cubicBezTo>
                  <a:lnTo>
                    <a:pt x="171831" y="1031240"/>
                  </a:lnTo>
                  <a:cubicBezTo>
                    <a:pt x="76962" y="1031240"/>
                    <a:pt x="0" y="954278"/>
                    <a:pt x="0" y="859409"/>
                  </a:cubicBezTo>
                  <a:close/>
                </a:path>
              </a:pathLst>
            </a:custGeom>
            <a:solidFill>
              <a:srgbClr val="DCE8F5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5146040" cy="1031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CUSTOMER APP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5057340">
            <a:off x="2620328" y="2699385"/>
            <a:ext cx="382905" cy="0"/>
          </a:xfrm>
          <a:prstGeom prst="line">
            <a:avLst/>
          </a:prstGeom>
          <a:ln cap="rnd" w="19050">
            <a:solidFill>
              <a:srgbClr val="0070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819775" y="1773555"/>
            <a:ext cx="3859530" cy="773430"/>
            <a:chOff x="0" y="0"/>
            <a:chExt cx="5146040" cy="1031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460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5146040">
                  <a:moveTo>
                    <a:pt x="0" y="171831"/>
                  </a:moveTo>
                  <a:cubicBezTo>
                    <a:pt x="0" y="76962"/>
                    <a:pt x="76962" y="0"/>
                    <a:pt x="171831" y="0"/>
                  </a:cubicBezTo>
                  <a:lnTo>
                    <a:pt x="4974209" y="0"/>
                  </a:lnTo>
                  <a:cubicBezTo>
                    <a:pt x="5069078" y="0"/>
                    <a:pt x="5146040" y="76962"/>
                    <a:pt x="5146040" y="171831"/>
                  </a:cubicBezTo>
                  <a:lnTo>
                    <a:pt x="5146040" y="859409"/>
                  </a:lnTo>
                  <a:cubicBezTo>
                    <a:pt x="5146040" y="954278"/>
                    <a:pt x="5069078" y="1031240"/>
                    <a:pt x="4974209" y="1031240"/>
                  </a:cubicBezTo>
                  <a:lnTo>
                    <a:pt x="171831" y="1031240"/>
                  </a:lnTo>
                  <a:cubicBezTo>
                    <a:pt x="76962" y="1031240"/>
                    <a:pt x="0" y="954278"/>
                    <a:pt x="0" y="859409"/>
                  </a:cubicBezTo>
                  <a:close/>
                </a:path>
              </a:pathLst>
            </a:custGeom>
            <a:solidFill>
              <a:srgbClr val="DCE8F5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146040" cy="1031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WORKER APP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5057340">
            <a:off x="7558088" y="2699385"/>
            <a:ext cx="382905" cy="0"/>
          </a:xfrm>
          <a:prstGeom prst="line">
            <a:avLst/>
          </a:prstGeom>
          <a:ln cap="rnd" w="19050">
            <a:solidFill>
              <a:srgbClr val="0070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0757535" y="1773555"/>
            <a:ext cx="3859530" cy="773430"/>
            <a:chOff x="0" y="0"/>
            <a:chExt cx="5146040" cy="1031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460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5146040">
                  <a:moveTo>
                    <a:pt x="0" y="171831"/>
                  </a:moveTo>
                  <a:cubicBezTo>
                    <a:pt x="0" y="76962"/>
                    <a:pt x="76962" y="0"/>
                    <a:pt x="171831" y="0"/>
                  </a:cubicBezTo>
                  <a:lnTo>
                    <a:pt x="4974209" y="0"/>
                  </a:lnTo>
                  <a:cubicBezTo>
                    <a:pt x="5069078" y="0"/>
                    <a:pt x="5146040" y="76962"/>
                    <a:pt x="5146040" y="171831"/>
                  </a:cubicBezTo>
                  <a:lnTo>
                    <a:pt x="5146040" y="859409"/>
                  </a:lnTo>
                  <a:cubicBezTo>
                    <a:pt x="5146040" y="954278"/>
                    <a:pt x="5069078" y="1031240"/>
                    <a:pt x="4974209" y="1031240"/>
                  </a:cubicBezTo>
                  <a:lnTo>
                    <a:pt x="171831" y="1031240"/>
                  </a:lnTo>
                  <a:cubicBezTo>
                    <a:pt x="76962" y="1031240"/>
                    <a:pt x="0" y="954278"/>
                    <a:pt x="0" y="859409"/>
                  </a:cubicBezTo>
                  <a:close/>
                </a:path>
              </a:pathLst>
            </a:custGeom>
            <a:solidFill>
              <a:srgbClr val="DCE8F5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146040" cy="1031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ADMIN DASHBOARD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5057340">
            <a:off x="12495848" y="2699385"/>
            <a:ext cx="382905" cy="0"/>
          </a:xfrm>
          <a:prstGeom prst="line">
            <a:avLst/>
          </a:prstGeom>
          <a:ln cap="rnd" w="19050">
            <a:solidFill>
              <a:srgbClr val="0070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2733675" y="2870835"/>
            <a:ext cx="12363450" cy="1006602"/>
            <a:chOff x="0" y="0"/>
            <a:chExt cx="16484600" cy="13421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8460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6484600">
                  <a:moveTo>
                    <a:pt x="0" y="223647"/>
                  </a:moveTo>
                  <a:cubicBezTo>
                    <a:pt x="0" y="100203"/>
                    <a:pt x="100203" y="0"/>
                    <a:pt x="223647" y="0"/>
                  </a:cubicBezTo>
                  <a:lnTo>
                    <a:pt x="16260953" y="0"/>
                  </a:lnTo>
                  <a:cubicBezTo>
                    <a:pt x="16384524" y="0"/>
                    <a:pt x="16484600" y="100203"/>
                    <a:pt x="16484600" y="223647"/>
                  </a:cubicBezTo>
                  <a:lnTo>
                    <a:pt x="16484600" y="1118489"/>
                  </a:lnTo>
                  <a:cubicBezTo>
                    <a:pt x="16484600" y="1242060"/>
                    <a:pt x="16384397" y="1342136"/>
                    <a:pt x="16260953" y="1342136"/>
                  </a:cubicBezTo>
                  <a:lnTo>
                    <a:pt x="223647" y="1342136"/>
                  </a:lnTo>
                  <a:cubicBezTo>
                    <a:pt x="100203" y="1342136"/>
                    <a:pt x="0" y="1241933"/>
                    <a:pt x="0" y="1118489"/>
                  </a:cubicBezTo>
                  <a:close/>
                </a:path>
              </a:pathLst>
            </a:custGeom>
            <a:solidFill>
              <a:srgbClr val="E1EBF8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6484600" cy="1342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REST API / FASTAPI BACKEND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Profiles • Verification • Booking • Matching • Ratings • Invoice Records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5090580">
            <a:off x="8703469" y="4050411"/>
            <a:ext cx="423862" cy="0"/>
          </a:xfrm>
          <a:prstGeom prst="line">
            <a:avLst/>
          </a:prstGeom>
          <a:ln cap="rnd" w="19050">
            <a:solidFill>
              <a:srgbClr val="0070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4379595" y="4242435"/>
            <a:ext cx="9071610" cy="869442"/>
            <a:chOff x="0" y="0"/>
            <a:chExt cx="12095480" cy="11592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0954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12095480">
                  <a:moveTo>
                    <a:pt x="0" y="193167"/>
                  </a:moveTo>
                  <a:cubicBezTo>
                    <a:pt x="0" y="86487"/>
                    <a:pt x="86487" y="0"/>
                    <a:pt x="193167" y="0"/>
                  </a:cubicBezTo>
                  <a:lnTo>
                    <a:pt x="11902313" y="0"/>
                  </a:lnTo>
                  <a:cubicBezTo>
                    <a:pt x="12008993" y="0"/>
                    <a:pt x="12095480" y="86487"/>
                    <a:pt x="12095480" y="193167"/>
                  </a:cubicBezTo>
                  <a:lnTo>
                    <a:pt x="12095480" y="966089"/>
                  </a:lnTo>
                  <a:cubicBezTo>
                    <a:pt x="12095480" y="1072769"/>
                    <a:pt x="12008993" y="1159256"/>
                    <a:pt x="11902313" y="1159256"/>
                  </a:cubicBezTo>
                  <a:lnTo>
                    <a:pt x="193167" y="1159256"/>
                  </a:lnTo>
                  <a:cubicBezTo>
                    <a:pt x="86487" y="1159256"/>
                    <a:pt x="0" y="1072769"/>
                    <a:pt x="0" y="966089"/>
                  </a:cubicBezTo>
                  <a:close/>
                </a:path>
              </a:pathLst>
            </a:custGeom>
            <a:solidFill>
              <a:srgbClr val="EBEEF2"/>
            </a:solidFill>
            <a:ln w="19050" cap="sq">
              <a:solidFill>
                <a:srgbClr val="5A646E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2095480" cy="1159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POSTGRESQL DATABASE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Workers • Skills • Availability • Bookings • Ratings • Demand History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5090580">
            <a:off x="8703469" y="5284851"/>
            <a:ext cx="423862" cy="0"/>
          </a:xfrm>
          <a:prstGeom prst="line">
            <a:avLst/>
          </a:prstGeom>
          <a:ln cap="rnd" w="19050">
            <a:solidFill>
              <a:srgbClr val="0070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4379595" y="5476875"/>
            <a:ext cx="9071610" cy="869442"/>
            <a:chOff x="0" y="0"/>
            <a:chExt cx="12095480" cy="11592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0954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12095480">
                  <a:moveTo>
                    <a:pt x="0" y="193167"/>
                  </a:moveTo>
                  <a:cubicBezTo>
                    <a:pt x="0" y="86487"/>
                    <a:pt x="86487" y="0"/>
                    <a:pt x="193167" y="0"/>
                  </a:cubicBezTo>
                  <a:lnTo>
                    <a:pt x="11902313" y="0"/>
                  </a:lnTo>
                  <a:cubicBezTo>
                    <a:pt x="12008993" y="0"/>
                    <a:pt x="12095480" y="86487"/>
                    <a:pt x="12095480" y="193167"/>
                  </a:cubicBezTo>
                  <a:lnTo>
                    <a:pt x="12095480" y="966089"/>
                  </a:lnTo>
                  <a:cubicBezTo>
                    <a:pt x="12095480" y="1072769"/>
                    <a:pt x="12008993" y="1159256"/>
                    <a:pt x="11902313" y="1159256"/>
                  </a:cubicBezTo>
                  <a:lnTo>
                    <a:pt x="193167" y="1159256"/>
                  </a:lnTo>
                  <a:cubicBezTo>
                    <a:pt x="86487" y="1159256"/>
                    <a:pt x="0" y="1072769"/>
                    <a:pt x="0" y="966089"/>
                  </a:cubicBezTo>
                  <a:close/>
                </a:path>
              </a:pathLst>
            </a:custGeom>
            <a:solidFill>
              <a:srgbClr val="EEE8F8"/>
            </a:solidFill>
            <a:ln w="19050" cap="sq">
              <a:solidFill>
                <a:srgbClr val="6E5AA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2095480" cy="1159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/ ANALYTICS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Historical Demand → Simple Forecast → Workforce Recommendation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82980" y="6894195"/>
            <a:ext cx="736092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5A646E"/>
                </a:solidFill>
                <a:latin typeface="Aptos Bold"/>
                <a:ea typeface="Aptos Bold"/>
                <a:cs typeface="Aptos Bold"/>
                <a:sym typeface="Aptos Bold"/>
              </a:rPr>
              <a:t>MVP TECHNOLOGY STACK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2980" y="7315200"/>
            <a:ext cx="76352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F3B66"/>
                </a:solidFill>
                <a:latin typeface="Aptos"/>
                <a:ea typeface="Aptos"/>
                <a:cs typeface="Aptos"/>
                <a:sym typeface="Aptos"/>
              </a:rPr>
              <a:t>Flutter / React • Python FastAPI • PostgreSQL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F3B66"/>
                </a:solidFill>
                <a:latin typeface="Aptos"/>
                <a:ea typeface="Aptos"/>
                <a:cs typeface="Aptos"/>
                <a:sym typeface="Aptos"/>
              </a:rPr>
              <a:t>Python / Pandas / Scikit-learn • OpenStreetMap / Leaflet • REST APIs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18320" y="6894195"/>
            <a:ext cx="694944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5A646E"/>
                </a:solidFill>
                <a:latin typeface="Aptos Bold"/>
                <a:ea typeface="Aptos Bold"/>
                <a:cs typeface="Aptos Bold"/>
                <a:sym typeface="Aptos Bold"/>
              </a:rPr>
              <a:t>IMPLEMENTATION FLOW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18320" y="7315200"/>
            <a:ext cx="69494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Request → Match → Book → Accept → Complete</a:t>
            </a:r>
          </a:p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→ Mock Payment / Invoice → Rating → Analytics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0" y="9163050"/>
            <a:ext cx="18288000" cy="3086100"/>
            <a:chOff x="0" y="0"/>
            <a:chExt cx="4816593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7360265" y="9465919"/>
            <a:ext cx="497441" cy="49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b="true" sz="3362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805765" y="9364803"/>
            <a:ext cx="4806001" cy="547688"/>
            <a:chOff x="0" y="0"/>
            <a:chExt cx="6408001" cy="7302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Console-Log SIH-26089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45820" y="283083"/>
            <a:ext cx="201168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5A646E"/>
                </a:solidFill>
                <a:latin typeface="Aptos Bold"/>
                <a:ea typeface="Aptos Bold"/>
                <a:cs typeface="Aptos Bold"/>
                <a:sym typeface="Aptos Bold"/>
              </a:rPr>
              <a:t>03 · FEASIBILITY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34640" y="535305"/>
            <a:ext cx="1408176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FEASIBILITY AND VIABILITY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1348740"/>
            <a:ext cx="1627632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12-HOUR MVP: BUILD THE CORE SERVICE JOURNEY; SCALE INTEGRATIONS LATER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44855" y="2047875"/>
            <a:ext cx="3790950" cy="677418"/>
            <a:chOff x="0" y="0"/>
            <a:chExt cx="5054600" cy="9032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54600" cy="903224"/>
            </a:xfrm>
            <a:custGeom>
              <a:avLst/>
              <a:gdLst/>
              <a:ahLst/>
              <a:cxnLst/>
              <a:rect r="r" b="b" t="t" l="l"/>
              <a:pathLst>
                <a:path h="903224" w="5054600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4904105" y="0"/>
                  </a:lnTo>
                  <a:cubicBezTo>
                    <a:pt x="4987163" y="0"/>
                    <a:pt x="5054600" y="67437"/>
                    <a:pt x="5054600" y="150495"/>
                  </a:cubicBezTo>
                  <a:lnTo>
                    <a:pt x="5054600" y="752729"/>
                  </a:lnTo>
                  <a:cubicBezTo>
                    <a:pt x="5054600" y="835914"/>
                    <a:pt x="4987163" y="903224"/>
                    <a:pt x="4904105" y="903224"/>
                  </a:cubicBezTo>
                  <a:lnTo>
                    <a:pt x="150495" y="903224"/>
                  </a:lnTo>
                  <a:cubicBezTo>
                    <a:pt x="67437" y="903224"/>
                    <a:pt x="0" y="835787"/>
                    <a:pt x="0" y="752729"/>
                  </a:cubicBezTo>
                  <a:close/>
                </a:path>
              </a:pathLst>
            </a:custGeom>
            <a:solidFill>
              <a:srgbClr val="DCE8F5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054600" cy="912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CHALLENGE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22495" y="2047875"/>
            <a:ext cx="6877050" cy="677418"/>
            <a:chOff x="0" y="0"/>
            <a:chExt cx="9169400" cy="9032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69400" cy="903224"/>
            </a:xfrm>
            <a:custGeom>
              <a:avLst/>
              <a:gdLst/>
              <a:ahLst/>
              <a:cxnLst/>
              <a:rect r="r" b="b" t="t" l="l"/>
              <a:pathLst>
                <a:path h="903224" w="9169400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9018905" y="0"/>
                  </a:lnTo>
                  <a:cubicBezTo>
                    <a:pt x="9101963" y="0"/>
                    <a:pt x="9169400" y="67437"/>
                    <a:pt x="9169400" y="150495"/>
                  </a:cubicBezTo>
                  <a:lnTo>
                    <a:pt x="9169400" y="752729"/>
                  </a:lnTo>
                  <a:cubicBezTo>
                    <a:pt x="9169400" y="835914"/>
                    <a:pt x="9101963" y="903224"/>
                    <a:pt x="9018905" y="903224"/>
                  </a:cubicBezTo>
                  <a:lnTo>
                    <a:pt x="150495" y="903224"/>
                  </a:lnTo>
                  <a:cubicBezTo>
                    <a:pt x="67437" y="903224"/>
                    <a:pt x="0" y="835787"/>
                    <a:pt x="0" y="752729"/>
                  </a:cubicBezTo>
                  <a:close/>
                </a:path>
              </a:pathLst>
            </a:custGeom>
            <a:solidFill>
              <a:srgbClr val="DCE8F5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9169400" cy="912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MVP APPROACH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54815" y="2047875"/>
            <a:ext cx="5162550" cy="677418"/>
            <a:chOff x="0" y="0"/>
            <a:chExt cx="6883400" cy="9032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83400" cy="903224"/>
            </a:xfrm>
            <a:custGeom>
              <a:avLst/>
              <a:gdLst/>
              <a:ahLst/>
              <a:cxnLst/>
              <a:rect r="r" b="b" t="t" l="l"/>
              <a:pathLst>
                <a:path h="903224" w="6883400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6732905" y="0"/>
                  </a:lnTo>
                  <a:cubicBezTo>
                    <a:pt x="6815963" y="0"/>
                    <a:pt x="6883400" y="67437"/>
                    <a:pt x="6883400" y="150495"/>
                  </a:cubicBezTo>
                  <a:lnTo>
                    <a:pt x="6883400" y="752729"/>
                  </a:lnTo>
                  <a:cubicBezTo>
                    <a:pt x="6883400" y="835914"/>
                    <a:pt x="6815963" y="903224"/>
                    <a:pt x="6732905" y="903224"/>
                  </a:cubicBezTo>
                  <a:lnTo>
                    <a:pt x="150495" y="903224"/>
                  </a:lnTo>
                  <a:cubicBezTo>
                    <a:pt x="67437" y="903224"/>
                    <a:pt x="0" y="835787"/>
                    <a:pt x="0" y="752729"/>
                  </a:cubicBezTo>
                  <a:close/>
                </a:path>
              </a:pathLst>
            </a:custGeom>
            <a:solidFill>
              <a:srgbClr val="DCE8F5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6883400" cy="912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SCALE-UP PATH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41832" y="2857500"/>
            <a:ext cx="34518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Worker verification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92040" y="2867025"/>
            <a:ext cx="646938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26889"/>
                </a:solidFill>
                <a:latin typeface="Aptos"/>
                <a:ea typeface="Aptos"/>
                <a:cs typeface="Aptos"/>
                <a:sym typeface="Aptos"/>
              </a:rPr>
              <a:t>Cooperative-admin verification + skill/certification profile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24360" y="2867025"/>
            <a:ext cx="46863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26889"/>
                </a:solidFill>
                <a:latin typeface="Aptos"/>
                <a:ea typeface="Aptos"/>
                <a:cs typeface="Aptos"/>
                <a:sym typeface="Aptos"/>
              </a:rPr>
              <a:t>Authorized digital verification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1832" y="3817620"/>
            <a:ext cx="34518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Geo matching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892040" y="3827145"/>
            <a:ext cx="64693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26889"/>
                </a:solidFill>
                <a:latin typeface="Aptos"/>
                <a:ea typeface="Aptos"/>
                <a:cs typeface="Aptos"/>
                <a:sym typeface="Aptos"/>
              </a:rPr>
              <a:t>Location + service radius + skill filter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24360" y="3827145"/>
            <a:ext cx="46863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26889"/>
                </a:solidFill>
                <a:latin typeface="Aptos"/>
                <a:ea typeface="Aptos"/>
                <a:cs typeface="Aptos"/>
                <a:sym typeface="Aptos"/>
              </a:rPr>
              <a:t>Real-time matching / heatmaps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1832" y="4777740"/>
            <a:ext cx="34518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AI allocation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92040" y="4787265"/>
            <a:ext cx="64693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26889"/>
                </a:solidFill>
                <a:latin typeface="Aptos"/>
                <a:ea typeface="Aptos"/>
                <a:cs typeface="Aptos"/>
                <a:sym typeface="Aptos"/>
              </a:rPr>
              <a:t>Historical/mock data + simple forecast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24360" y="4787265"/>
            <a:ext cx="468630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26889"/>
                </a:solidFill>
                <a:latin typeface="Aptos"/>
                <a:ea typeface="Aptos"/>
                <a:cs typeface="Aptos"/>
                <a:sym typeface="Aptos"/>
              </a:rPr>
              <a:t>Continuous learning from real demand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1832" y="5737860"/>
            <a:ext cx="34518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Payments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892040" y="5747385"/>
            <a:ext cx="64693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26889"/>
                </a:solidFill>
                <a:latin typeface="Aptos"/>
                <a:ea typeface="Aptos"/>
                <a:cs typeface="Aptos"/>
                <a:sym typeface="Aptos"/>
              </a:rPr>
              <a:t>Mock/sandbox payment + invoice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24360" y="5747385"/>
            <a:ext cx="46863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26889"/>
                </a:solidFill>
                <a:latin typeface="Aptos"/>
                <a:ea typeface="Aptos"/>
                <a:cs typeface="Aptos"/>
                <a:sym typeface="Aptos"/>
              </a:rPr>
              <a:t>Production gateway + reconciliation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1832" y="6697980"/>
            <a:ext cx="34518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Welfare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892040" y="6707505"/>
            <a:ext cx="64693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26889"/>
                </a:solidFill>
                <a:latin typeface="Aptos"/>
                <a:ea typeface="Aptos"/>
                <a:cs typeface="Aptos"/>
                <a:sym typeface="Aptos"/>
              </a:rPr>
              <a:t>Welfare/status profile + scheme links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24360" y="6707505"/>
            <a:ext cx="46863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26889"/>
                </a:solidFill>
                <a:latin typeface="Aptos"/>
                <a:ea typeface="Aptos"/>
                <a:cs typeface="Aptos"/>
                <a:sym typeface="Aptos"/>
              </a:rPr>
              <a:t>Potential authorized integrations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1832" y="7658100"/>
            <a:ext cx="345186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Multilingual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892040" y="7667625"/>
            <a:ext cx="64693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26889"/>
                </a:solidFill>
                <a:latin typeface="Aptos"/>
                <a:ea typeface="Aptos"/>
                <a:cs typeface="Aptos"/>
                <a:sym typeface="Aptos"/>
              </a:rPr>
              <a:t>English + Hindi + selected regional language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24360" y="7667625"/>
            <a:ext cx="46863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526889"/>
                </a:solidFill>
                <a:latin typeface="Aptos"/>
                <a:ea typeface="Aptos"/>
                <a:cs typeface="Aptos"/>
                <a:sym typeface="Aptos"/>
              </a:rPr>
              <a:t>More languages + voice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14400" y="8247507"/>
            <a:ext cx="16135350" cy="814578"/>
            <a:chOff x="0" y="0"/>
            <a:chExt cx="21513800" cy="10861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513800" cy="1086104"/>
            </a:xfrm>
            <a:custGeom>
              <a:avLst/>
              <a:gdLst/>
              <a:ahLst/>
              <a:cxnLst/>
              <a:rect r="r" b="b" t="t" l="l"/>
              <a:pathLst>
                <a:path h="1086104" w="21513800">
                  <a:moveTo>
                    <a:pt x="0" y="180975"/>
                  </a:moveTo>
                  <a:cubicBezTo>
                    <a:pt x="0" y="81026"/>
                    <a:pt x="81026" y="0"/>
                    <a:pt x="180975" y="0"/>
                  </a:cubicBezTo>
                  <a:lnTo>
                    <a:pt x="21332825" y="0"/>
                  </a:lnTo>
                  <a:cubicBezTo>
                    <a:pt x="21432774" y="0"/>
                    <a:pt x="21513800" y="81026"/>
                    <a:pt x="21513800" y="180975"/>
                  </a:cubicBezTo>
                  <a:lnTo>
                    <a:pt x="21513800" y="905129"/>
                  </a:lnTo>
                  <a:cubicBezTo>
                    <a:pt x="21513800" y="1005078"/>
                    <a:pt x="21432774" y="1086104"/>
                    <a:pt x="21332825" y="1086104"/>
                  </a:cubicBezTo>
                  <a:lnTo>
                    <a:pt x="180975" y="1086104"/>
                  </a:lnTo>
                  <a:cubicBezTo>
                    <a:pt x="81026" y="1086104"/>
                    <a:pt x="0" y="1005078"/>
                    <a:pt x="0" y="905129"/>
                  </a:cubicBezTo>
                  <a:close/>
                </a:path>
              </a:pathLst>
            </a:custGeom>
            <a:solidFill>
              <a:srgbClr val="FAF2CD"/>
            </a:solidFill>
            <a:ln w="19050" cap="sq">
              <a:solidFill>
                <a:srgbClr val="E89126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21513800" cy="1095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MVP IS IMPLEMENTABLE AS A HACKATHON PROTOTYPE; PRODUCTION REQUIRES APPROVALS, DATA, PAYMENT AND GOVERNMENT-INTEGRATION READINESS.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0" y="9163050"/>
            <a:ext cx="18288000" cy="3086100"/>
            <a:chOff x="0" y="0"/>
            <a:chExt cx="4816593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7360265" y="9465919"/>
            <a:ext cx="497441" cy="49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b="true" sz="3362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805765" y="9364803"/>
            <a:ext cx="4806001" cy="547688"/>
            <a:chOff x="0" y="0"/>
            <a:chExt cx="6408001" cy="7302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Console-Log SIH-26089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45820" y="283083"/>
            <a:ext cx="201168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5A646E"/>
                </a:solidFill>
                <a:latin typeface="Aptos Bold"/>
                <a:ea typeface="Aptos Bold"/>
                <a:cs typeface="Aptos Bold"/>
                <a:sym typeface="Aptos Bold"/>
              </a:rPr>
              <a:t>04 · IMPACT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34640" y="535305"/>
            <a:ext cx="1408176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IMPACT AND BENEFITS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1348740"/>
            <a:ext cx="1627632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THREE SIDES OF THE COOPERATIVE SERVICE ECOSYSTEM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44855" y="2116455"/>
            <a:ext cx="4408170" cy="773430"/>
            <a:chOff x="0" y="0"/>
            <a:chExt cx="5877560" cy="1031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77560" cy="1031240"/>
            </a:xfrm>
            <a:custGeom>
              <a:avLst/>
              <a:gdLst/>
              <a:ahLst/>
              <a:cxnLst/>
              <a:rect r="r" b="b" t="t" l="l"/>
              <a:pathLst>
                <a:path h="1031240" w="5877560">
                  <a:moveTo>
                    <a:pt x="0" y="171831"/>
                  </a:moveTo>
                  <a:cubicBezTo>
                    <a:pt x="0" y="76962"/>
                    <a:pt x="76962" y="0"/>
                    <a:pt x="171831" y="0"/>
                  </a:cubicBezTo>
                  <a:lnTo>
                    <a:pt x="5705729" y="0"/>
                  </a:lnTo>
                  <a:cubicBezTo>
                    <a:pt x="5800598" y="0"/>
                    <a:pt x="5877560" y="76962"/>
                    <a:pt x="5877560" y="171831"/>
                  </a:cubicBezTo>
                  <a:lnTo>
                    <a:pt x="5877560" y="859409"/>
                  </a:lnTo>
                  <a:cubicBezTo>
                    <a:pt x="5877560" y="954278"/>
                    <a:pt x="5800598" y="1031240"/>
                    <a:pt x="5705729" y="1031240"/>
                  </a:cubicBezTo>
                  <a:lnTo>
                    <a:pt x="171831" y="1031240"/>
                  </a:lnTo>
                  <a:cubicBezTo>
                    <a:pt x="76962" y="1031240"/>
                    <a:pt x="0" y="954278"/>
                    <a:pt x="0" y="859409"/>
                  </a:cubicBezTo>
                  <a:close/>
                </a:path>
              </a:pathLst>
            </a:custGeom>
            <a:solidFill>
              <a:srgbClr val="E6F0E8"/>
            </a:solidFill>
            <a:ln w="19050" cap="sq">
              <a:solidFill>
                <a:srgbClr val="2E7D5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5877560" cy="1031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WORKER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82980" y="3044190"/>
            <a:ext cx="393192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Skill/profile visibility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Nearby verified requests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Availability + booking updates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Earnings / welfare records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956935" y="2116455"/>
            <a:ext cx="4408170" cy="773430"/>
            <a:chOff x="0" y="0"/>
            <a:chExt cx="5877560" cy="1031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77560" cy="1031240"/>
            </a:xfrm>
            <a:custGeom>
              <a:avLst/>
              <a:gdLst/>
              <a:ahLst/>
              <a:cxnLst/>
              <a:rect r="r" b="b" t="t" l="l"/>
              <a:pathLst>
                <a:path h="1031240" w="5877560">
                  <a:moveTo>
                    <a:pt x="0" y="171831"/>
                  </a:moveTo>
                  <a:cubicBezTo>
                    <a:pt x="0" y="76962"/>
                    <a:pt x="76962" y="0"/>
                    <a:pt x="171831" y="0"/>
                  </a:cubicBezTo>
                  <a:lnTo>
                    <a:pt x="5705729" y="0"/>
                  </a:lnTo>
                  <a:cubicBezTo>
                    <a:pt x="5800598" y="0"/>
                    <a:pt x="5877560" y="76962"/>
                    <a:pt x="5877560" y="171831"/>
                  </a:cubicBezTo>
                  <a:lnTo>
                    <a:pt x="5877560" y="859409"/>
                  </a:lnTo>
                  <a:cubicBezTo>
                    <a:pt x="5877560" y="954278"/>
                    <a:pt x="5800598" y="1031240"/>
                    <a:pt x="5705729" y="1031240"/>
                  </a:cubicBezTo>
                  <a:lnTo>
                    <a:pt x="171831" y="1031240"/>
                  </a:lnTo>
                  <a:cubicBezTo>
                    <a:pt x="76962" y="1031240"/>
                    <a:pt x="0" y="954278"/>
                    <a:pt x="0" y="859409"/>
                  </a:cubicBezTo>
                  <a:close/>
                </a:path>
              </a:pathLst>
            </a:custGeom>
            <a:solidFill>
              <a:srgbClr val="DCE8F5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877560" cy="1031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CUSTOMER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195060" y="3044190"/>
            <a:ext cx="393192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Verified nearby providers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Service + location matching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Booking + payment status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Ratings + feedback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169015" y="2116455"/>
            <a:ext cx="4408170" cy="773430"/>
            <a:chOff x="0" y="0"/>
            <a:chExt cx="5877560" cy="1031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77560" cy="1031240"/>
            </a:xfrm>
            <a:custGeom>
              <a:avLst/>
              <a:gdLst/>
              <a:ahLst/>
              <a:cxnLst/>
              <a:rect r="r" b="b" t="t" l="l"/>
              <a:pathLst>
                <a:path h="1031240" w="5877560">
                  <a:moveTo>
                    <a:pt x="0" y="171831"/>
                  </a:moveTo>
                  <a:cubicBezTo>
                    <a:pt x="0" y="76962"/>
                    <a:pt x="76962" y="0"/>
                    <a:pt x="171831" y="0"/>
                  </a:cubicBezTo>
                  <a:lnTo>
                    <a:pt x="5705729" y="0"/>
                  </a:lnTo>
                  <a:cubicBezTo>
                    <a:pt x="5800598" y="0"/>
                    <a:pt x="5877560" y="76962"/>
                    <a:pt x="5877560" y="171831"/>
                  </a:cubicBezTo>
                  <a:lnTo>
                    <a:pt x="5877560" y="859409"/>
                  </a:lnTo>
                  <a:cubicBezTo>
                    <a:pt x="5877560" y="954278"/>
                    <a:pt x="5800598" y="1031240"/>
                    <a:pt x="5705729" y="1031240"/>
                  </a:cubicBezTo>
                  <a:lnTo>
                    <a:pt x="171831" y="1031240"/>
                  </a:lnTo>
                  <a:cubicBezTo>
                    <a:pt x="76962" y="1031240"/>
                    <a:pt x="0" y="954278"/>
                    <a:pt x="0" y="859409"/>
                  </a:cubicBezTo>
                  <a:close/>
                </a:path>
              </a:pathLst>
            </a:custGeom>
            <a:solidFill>
              <a:srgbClr val="F5EBDC"/>
            </a:solidFill>
            <a:ln w="19050" cap="sq">
              <a:solidFill>
                <a:srgbClr val="E89126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877560" cy="1031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COOPERATIVE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407140" y="3044190"/>
            <a:ext cx="393192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Worker registry + verification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Booking oversight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Demand + utilization insight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• Welfare administration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8700" y="4974526"/>
            <a:ext cx="3448050" cy="910590"/>
            <a:chOff x="0" y="0"/>
            <a:chExt cx="4597400" cy="12141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97400" cy="1214120"/>
            </a:xfrm>
            <a:custGeom>
              <a:avLst/>
              <a:gdLst/>
              <a:ahLst/>
              <a:cxnLst/>
              <a:rect r="r" b="b" t="t" l="l"/>
              <a:pathLst>
                <a:path h="1214120" w="4597400">
                  <a:moveTo>
                    <a:pt x="0" y="202311"/>
                  </a:moveTo>
                  <a:cubicBezTo>
                    <a:pt x="0" y="90551"/>
                    <a:pt x="90551" y="0"/>
                    <a:pt x="202311" y="0"/>
                  </a:cubicBezTo>
                  <a:lnTo>
                    <a:pt x="4395089" y="0"/>
                  </a:lnTo>
                  <a:cubicBezTo>
                    <a:pt x="4506849" y="0"/>
                    <a:pt x="4597400" y="90551"/>
                    <a:pt x="4597400" y="202311"/>
                  </a:cubicBezTo>
                  <a:lnTo>
                    <a:pt x="4597400" y="1011809"/>
                  </a:lnTo>
                  <a:cubicBezTo>
                    <a:pt x="4597400" y="1123569"/>
                    <a:pt x="4506849" y="1214120"/>
                    <a:pt x="4395089" y="1214120"/>
                  </a:cubicBezTo>
                  <a:lnTo>
                    <a:pt x="202311" y="1214120"/>
                  </a:lnTo>
                  <a:cubicBezTo>
                    <a:pt x="90551" y="1214120"/>
                    <a:pt x="0" y="1123569"/>
                    <a:pt x="0" y="1011809"/>
                  </a:cubicBezTo>
                  <a:close/>
                </a:path>
              </a:pathLst>
            </a:custGeom>
            <a:solidFill>
              <a:srgbClr val="DCE8F5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597400" cy="121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CUSTOMER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40780" y="4974526"/>
            <a:ext cx="4133850" cy="910590"/>
            <a:chOff x="0" y="0"/>
            <a:chExt cx="5511800" cy="1214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11800" cy="1214120"/>
            </a:xfrm>
            <a:custGeom>
              <a:avLst/>
              <a:gdLst/>
              <a:ahLst/>
              <a:cxnLst/>
              <a:rect r="r" b="b" t="t" l="l"/>
              <a:pathLst>
                <a:path h="1214120" w="5511800">
                  <a:moveTo>
                    <a:pt x="0" y="202311"/>
                  </a:moveTo>
                  <a:cubicBezTo>
                    <a:pt x="0" y="90551"/>
                    <a:pt x="90551" y="0"/>
                    <a:pt x="202311" y="0"/>
                  </a:cubicBezTo>
                  <a:lnTo>
                    <a:pt x="5309489" y="0"/>
                  </a:lnTo>
                  <a:cubicBezTo>
                    <a:pt x="5421249" y="0"/>
                    <a:pt x="5511800" y="90551"/>
                    <a:pt x="5511800" y="202311"/>
                  </a:cubicBezTo>
                  <a:lnTo>
                    <a:pt x="5511800" y="1011809"/>
                  </a:lnTo>
                  <a:cubicBezTo>
                    <a:pt x="5511800" y="1123569"/>
                    <a:pt x="5421249" y="1214120"/>
                    <a:pt x="5309489" y="1214120"/>
                  </a:cubicBezTo>
                  <a:lnTo>
                    <a:pt x="202311" y="1214120"/>
                  </a:lnTo>
                  <a:cubicBezTo>
                    <a:pt x="90551" y="1214120"/>
                    <a:pt x="0" y="1123569"/>
                    <a:pt x="0" y="1011809"/>
                  </a:cubicBezTo>
                  <a:close/>
                </a:path>
              </a:pathLst>
            </a:custGeom>
            <a:solidFill>
              <a:srgbClr val="CDDCF0"/>
            </a:solidFill>
            <a:ln w="19050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5511800" cy="121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PLATFORM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match • book • track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01500" y="4974526"/>
            <a:ext cx="3448050" cy="910590"/>
            <a:chOff x="0" y="0"/>
            <a:chExt cx="4597400" cy="1214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97400" cy="1214120"/>
            </a:xfrm>
            <a:custGeom>
              <a:avLst/>
              <a:gdLst/>
              <a:ahLst/>
              <a:cxnLst/>
              <a:rect r="r" b="b" t="t" l="l"/>
              <a:pathLst>
                <a:path h="1214120" w="4597400">
                  <a:moveTo>
                    <a:pt x="0" y="202311"/>
                  </a:moveTo>
                  <a:cubicBezTo>
                    <a:pt x="0" y="90551"/>
                    <a:pt x="90551" y="0"/>
                    <a:pt x="202311" y="0"/>
                  </a:cubicBezTo>
                  <a:lnTo>
                    <a:pt x="4395089" y="0"/>
                  </a:lnTo>
                  <a:cubicBezTo>
                    <a:pt x="4506849" y="0"/>
                    <a:pt x="4597400" y="90551"/>
                    <a:pt x="4597400" y="202311"/>
                  </a:cubicBezTo>
                  <a:lnTo>
                    <a:pt x="4597400" y="1011809"/>
                  </a:lnTo>
                  <a:cubicBezTo>
                    <a:pt x="4597400" y="1123569"/>
                    <a:pt x="4506849" y="1214120"/>
                    <a:pt x="4395089" y="1214120"/>
                  </a:cubicBezTo>
                  <a:lnTo>
                    <a:pt x="202311" y="1214120"/>
                  </a:lnTo>
                  <a:cubicBezTo>
                    <a:pt x="90551" y="1214120"/>
                    <a:pt x="0" y="1123569"/>
                    <a:pt x="0" y="1011809"/>
                  </a:cubicBezTo>
                  <a:close/>
                </a:path>
              </a:pathLst>
            </a:custGeom>
            <a:solidFill>
              <a:srgbClr val="E6F0E8"/>
            </a:solidFill>
            <a:ln w="19050" cap="sq">
              <a:solidFill>
                <a:srgbClr val="2E7D5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4597400" cy="121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WORKER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4448174" y="5403921"/>
            <a:ext cx="1821182" cy="38085"/>
          </a:xfrm>
          <a:prstGeom prst="line">
            <a:avLst/>
          </a:prstGeom>
          <a:ln cap="rnd" w="19050">
            <a:solidFill>
              <a:srgbClr val="0070C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10346051" y="5403914"/>
            <a:ext cx="1684018" cy="38098"/>
          </a:xfrm>
          <a:prstGeom prst="line">
            <a:avLst/>
          </a:prstGeom>
          <a:ln cap="rnd" w="19050">
            <a:solidFill>
              <a:srgbClr val="0070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6240780" y="6208966"/>
            <a:ext cx="4133850" cy="869442"/>
            <a:chOff x="0" y="0"/>
            <a:chExt cx="5511800" cy="11592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118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5511800">
                  <a:moveTo>
                    <a:pt x="0" y="193167"/>
                  </a:moveTo>
                  <a:cubicBezTo>
                    <a:pt x="0" y="86487"/>
                    <a:pt x="86487" y="0"/>
                    <a:pt x="193167" y="0"/>
                  </a:cubicBezTo>
                  <a:lnTo>
                    <a:pt x="5318633" y="0"/>
                  </a:lnTo>
                  <a:cubicBezTo>
                    <a:pt x="5425313" y="0"/>
                    <a:pt x="5511800" y="86487"/>
                    <a:pt x="5511800" y="193167"/>
                  </a:cubicBezTo>
                  <a:lnTo>
                    <a:pt x="5511800" y="966089"/>
                  </a:lnTo>
                  <a:cubicBezTo>
                    <a:pt x="5511800" y="1072769"/>
                    <a:pt x="5425313" y="1159256"/>
                    <a:pt x="5318633" y="1159256"/>
                  </a:cubicBezTo>
                  <a:lnTo>
                    <a:pt x="193167" y="1159256"/>
                  </a:lnTo>
                  <a:cubicBezTo>
                    <a:pt x="86487" y="1159256"/>
                    <a:pt x="0" y="1072769"/>
                    <a:pt x="0" y="966089"/>
                  </a:cubicBezTo>
                  <a:close/>
                </a:path>
              </a:pathLst>
            </a:custGeom>
            <a:solidFill>
              <a:srgbClr val="F5EBDC"/>
            </a:solidFill>
            <a:ln w="19050" cap="sq">
              <a:solidFill>
                <a:srgbClr val="E89126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511800" cy="1159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COOPERATIVE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F3B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ADMINISTRATION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44855" y="8311377"/>
            <a:ext cx="1538909" cy="20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4"/>
              </a:lnSpc>
            </a:pPr>
            <a:r>
              <a:rPr lang="en-US" sz="1262" b="true">
                <a:solidFill>
                  <a:srgbClr val="5A646E"/>
                </a:solidFill>
                <a:latin typeface="Aptos Bold"/>
                <a:ea typeface="Aptos Bold"/>
                <a:cs typeface="Aptos Bold"/>
                <a:sym typeface="Aptos Bold"/>
              </a:rPr>
              <a:t>PROTOTYPE KPIs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403991" y="8287145"/>
            <a:ext cx="14956274" cy="500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8"/>
              </a:lnSpc>
            </a:pPr>
            <a:r>
              <a:rPr lang="en-US" sz="1498">
                <a:solidFill>
                  <a:srgbClr val="1F3B66"/>
                </a:solidFill>
                <a:latin typeface="Aptos"/>
                <a:ea typeface="Aptos"/>
                <a:cs typeface="Aptos"/>
                <a:sym typeface="Aptos"/>
              </a:rPr>
              <a:t>Matching time • Booking completion rate • Worker utilization • Average rating • Verified profile share • Booking completion time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0" y="9163050"/>
            <a:ext cx="18288000" cy="3086100"/>
            <a:chOff x="0" y="0"/>
            <a:chExt cx="4816593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7360265" y="9465919"/>
            <a:ext cx="497441" cy="49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b="true" sz="3362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805765" y="9364803"/>
            <a:ext cx="4806001" cy="547688"/>
            <a:chOff x="0" y="0"/>
            <a:chExt cx="6408001" cy="7302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Console-Log SIH-26089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45820" y="283083"/>
            <a:ext cx="201168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5A646E"/>
                </a:solidFill>
                <a:latin typeface="Aptos Bold"/>
                <a:ea typeface="Aptos Bold"/>
                <a:cs typeface="Aptos Bold"/>
                <a:sym typeface="Aptos Bold"/>
              </a:rPr>
              <a:t>05 · EVIDENCE BASE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34640" y="535305"/>
            <a:ext cx="1408176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RESEARCH AND REFERENCES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1613535"/>
            <a:ext cx="74980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Ministry of Cooperation, Government of India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2034540"/>
            <a:ext cx="7498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70C0"/>
                </a:solidFill>
                <a:latin typeface="Aptos Bold"/>
                <a:ea typeface="Aptos Bold"/>
                <a:cs typeface="Aptos Bold"/>
                <a:sym typeface="Aptos Bold"/>
              </a:rPr>
              <a:t>cooperation.gov.in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2404872"/>
            <a:ext cx="749808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1944">
                <a:solidFill>
                  <a:srgbClr val="5A646E"/>
                </a:solidFill>
                <a:latin typeface="Aptos"/>
                <a:ea typeface="Aptos"/>
                <a:cs typeface="Aptos"/>
                <a:sym typeface="Aptos"/>
              </a:rPr>
              <a:t>National Cooperative Database / Ministry website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3355467"/>
            <a:ext cx="74980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Ministry of Cooperation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3776472"/>
            <a:ext cx="7498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70C0"/>
                </a:solidFill>
                <a:latin typeface="Aptos Bold"/>
                <a:ea typeface="Aptos Bold"/>
                <a:cs typeface="Aptos Bold"/>
                <a:sym typeface="Aptos Bold"/>
              </a:rPr>
              <a:t>Final National Cooperative Database 2023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4146804"/>
            <a:ext cx="749808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1944">
                <a:solidFill>
                  <a:srgbClr val="5A646E"/>
                </a:solidFill>
                <a:latin typeface="Aptos"/>
                <a:ea typeface="Aptos"/>
                <a:cs typeface="Aptos"/>
                <a:sym typeface="Aptos"/>
              </a:rPr>
              <a:t>National Cooperative Database 2023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5097399"/>
            <a:ext cx="74980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NITI Aayog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5518404"/>
            <a:ext cx="7498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70C0"/>
                </a:solidFill>
                <a:latin typeface="Aptos Bold"/>
                <a:ea typeface="Aptos Bold"/>
                <a:cs typeface="Aptos Bold"/>
                <a:sym typeface="Aptos Bold"/>
              </a:rPr>
              <a:t>niti.gov.in/node/375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5888736"/>
            <a:ext cx="749808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1944">
                <a:solidFill>
                  <a:srgbClr val="5A646E"/>
                </a:solidFill>
                <a:latin typeface="Aptos"/>
                <a:ea typeface="Aptos"/>
                <a:cs typeface="Aptos"/>
                <a:sym typeface="Aptos"/>
              </a:rPr>
              <a:t>India’s Booming Gig and Platform Economy: Perspectives and Recommendations on the Future of Work, June 2022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6839331"/>
            <a:ext cx="74980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Ministry of Labour &amp; Employment / PIB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7260336"/>
            <a:ext cx="7498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70C0"/>
                </a:solidFill>
                <a:latin typeface="Aptos Bold"/>
                <a:ea typeface="Aptos Bold"/>
                <a:cs typeface="Aptos Bold"/>
                <a:sym typeface="Aptos Bold"/>
              </a:rPr>
              <a:t>labour.gov.in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7630668"/>
            <a:ext cx="749808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1944">
                <a:solidFill>
                  <a:srgbClr val="5A646E"/>
                </a:solidFill>
                <a:latin typeface="Aptos"/>
                <a:ea typeface="Aptos"/>
                <a:cs typeface="Aptos"/>
                <a:sym typeface="Aptos"/>
              </a:rPr>
              <a:t>Social Security Measures for Gig and Platform Workers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81160" y="1613535"/>
            <a:ext cx="74980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e-Shram, Ministry of Labour &amp; Employment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1160" y="2034540"/>
            <a:ext cx="7498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70C0"/>
                </a:solidFill>
                <a:latin typeface="Aptos Bold"/>
                <a:ea typeface="Aptos Bold"/>
                <a:cs typeface="Aptos Bold"/>
                <a:sym typeface="Aptos Bold"/>
              </a:rPr>
              <a:t>eshram.gov.in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81160" y="2404872"/>
            <a:ext cx="749808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1944">
                <a:solidFill>
                  <a:srgbClr val="5A646E"/>
                </a:solidFill>
                <a:latin typeface="Aptos"/>
                <a:ea typeface="Aptos"/>
                <a:cs typeface="Aptos"/>
                <a:sym typeface="Aptos"/>
              </a:rPr>
              <a:t>Official portal and objectives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81160" y="3355467"/>
            <a:ext cx="74980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ONDC — Skilled Services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81160" y="3776472"/>
            <a:ext cx="7498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70C0"/>
                </a:solidFill>
                <a:latin typeface="Aptos Bold"/>
                <a:ea typeface="Aptos Bold"/>
                <a:cs typeface="Aptos Bold"/>
                <a:sym typeface="Aptos Bold"/>
              </a:rPr>
              <a:t>resources.ondc.org/services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81160" y="4146804"/>
            <a:ext cx="749808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1944">
                <a:solidFill>
                  <a:srgbClr val="5A646E"/>
                </a:solidFill>
                <a:latin typeface="Aptos"/>
                <a:ea typeface="Aptos"/>
                <a:cs typeface="Aptos"/>
                <a:sym typeface="Aptos"/>
              </a:rPr>
              <a:t>Digital network model for household/local skilled services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1160" y="5097399"/>
            <a:ext cx="74980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International Labour Organization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81160" y="5518404"/>
            <a:ext cx="7498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70C0"/>
                </a:solidFill>
                <a:latin typeface="Aptos Bold"/>
                <a:ea typeface="Aptos Bold"/>
                <a:cs typeface="Aptos Bold"/>
                <a:sym typeface="Aptos Bold"/>
              </a:rPr>
              <a:t>ilo.org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81160" y="5888736"/>
            <a:ext cx="749808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1944">
                <a:solidFill>
                  <a:srgbClr val="5A646E"/>
                </a:solidFill>
                <a:latin typeface="Aptos"/>
                <a:ea typeface="Aptos"/>
                <a:cs typeface="Aptos"/>
                <a:sym typeface="Aptos"/>
              </a:rPr>
              <a:t>Platform workers in India / social protection research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81160" y="6839331"/>
            <a:ext cx="74980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true">
                <a:solidFill>
                  <a:srgbClr val="1F3B66"/>
                </a:solidFill>
                <a:latin typeface="Aptos Bold"/>
                <a:ea typeface="Aptos Bold"/>
                <a:cs typeface="Aptos Bold"/>
                <a:sym typeface="Aptos Bold"/>
              </a:rPr>
              <a:t>Indian Institute for Human Settlements — Aditi Surie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81160" y="7260336"/>
            <a:ext cx="749808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0070C0"/>
                </a:solidFill>
                <a:latin typeface="Aptos Bold"/>
                <a:ea typeface="Aptos Bold"/>
                <a:cs typeface="Aptos Bold"/>
                <a:sym typeface="Aptos Bold"/>
              </a:rPr>
              <a:t>IIHS publication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81160" y="7630668"/>
            <a:ext cx="749808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1944">
                <a:solidFill>
                  <a:srgbClr val="5A646E"/>
                </a:solidFill>
                <a:latin typeface="Aptos"/>
                <a:ea typeface="Aptos"/>
                <a:cs typeface="Aptos"/>
                <a:sym typeface="Aptos"/>
              </a:rPr>
              <a:t>On-demand platforms and pricing, 2020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" y="8755380"/>
            <a:ext cx="1600200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A646E"/>
                </a:solidFill>
                <a:latin typeface="Aptos"/>
                <a:ea typeface="Aptos"/>
                <a:cs typeface="Aptos"/>
                <a:sym typeface="Aptos"/>
              </a:rPr>
              <a:t>Research supports the cooperative, gig/platform-work, worker-welfare and skilled-services context; proposed platform capabilities are clearly identified as proposals.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0" y="9163050"/>
            <a:ext cx="18288000" cy="3086100"/>
            <a:chOff x="0" y="0"/>
            <a:chExt cx="4816593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816593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7360265" y="9465919"/>
            <a:ext cx="497441" cy="49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4"/>
              </a:lnSpc>
            </a:pPr>
            <a:r>
              <a:rPr lang="en-US" b="true" sz="3362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805765" y="9364803"/>
            <a:ext cx="4806001" cy="547688"/>
            <a:chOff x="0" y="0"/>
            <a:chExt cx="6408001" cy="730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Console-Log SIH-26089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DAHV-9V5yR0</dc:identifier>
  <dcterms:modified xsi:type="dcterms:W3CDTF">2011-08-01T06:04:30Z</dcterms:modified>
  <cp:revision>1</cp:revision>
  <dc:title>SMART INDIA HACKATHON 2026</dc:title>
</cp:coreProperties>
</file>