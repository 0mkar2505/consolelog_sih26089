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Arial Bold" panose="020B0704020202020204" pitchFamily="34" charset="0"/>
      <p:bold r:id="rId9"/>
    </p:embeddedFont>
    <p:embeddedFont>
      <p:font typeface="Calibri" panose="020F0502020204030204" pitchFamily="34" charset="0"/>
      <p:regular r:id="rId10"/>
      <p:bold r:id="rId11"/>
      <p:italic r:id="rId12"/>
      <p:boldItalic r:id="rId13"/>
    </p:embeddedFont>
    <p:embeddedFont>
      <p:font typeface="Galdeano"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2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4337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concept as a cooperative-owned marketplace: local workforce capacity becomes trusted, searchable service access for households and institutions.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service journey. Emphasize that the platform is cooperative-owned, while verification, skill-based matching, transparent transactions, welfare integration and multilingual access are the operating principles.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the prototype builds from what it may connect to later. The core is an editable platform stack; e-Shram and other government systems remain potential integrations subject to API availability and authorization.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feasibility as a clear boundary. The MVP can demonstrate the workflow now; production scale depends on authorized integrations, stronger data, operating volume and institutional approvals.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three-sided value exchange. Customers get trusted local access, workers gain visibility and structured records, and the cooperative gains administration plus demand and utilization insight. The ecosystem diagram shows the platform as the connective layer, with AI and analytics treated as a proposed MVP capability. The KPI row defines prototype measures without claiming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distinguishing the evidence base from the proposed platform. The references cover cooperative capacity, gig and platform work, social protection, e-Shram, open-network services and home-service platform research.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resources.ondc.org/services" TargetMode="External"/><Relationship Id="rId3" Type="http://schemas.openxmlformats.org/officeDocument/2006/relationships/hyperlink" Target="https://cooperation.gov.in/" TargetMode="External"/><Relationship Id="rId7" Type="http://schemas.openxmlformats.org/officeDocument/2006/relationships/hyperlink" Target="https://www.eshram.gov.i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labour.gov.in/" TargetMode="External"/><Relationship Id="rId5" Type="http://schemas.openxmlformats.org/officeDocument/2006/relationships/hyperlink" Target="https://www.niti.gov.in/node/375" TargetMode="External"/><Relationship Id="rId10" Type="http://schemas.openxmlformats.org/officeDocument/2006/relationships/hyperlink" Target="https://iihs.co.in/publication/on-demand-platforms-and-pricing-how-platforms-can-impact-the-informal-urban-economy-evidence-from-bengaluru-india/" TargetMode="External"/><Relationship Id="rId4" Type="http://schemas.openxmlformats.org/officeDocument/2006/relationships/hyperlink" Target="https://cooperation.gov.in/sites/default/files/2024-03/Final_National_Cooperative_Database_023.pdf" TargetMode="External"/><Relationship Id="rId9" Type="http://schemas.openxmlformats.org/officeDocument/2006/relationships/hyperlink" Target="https://www.ilo.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58786" y="601663"/>
            <a:ext cx="3063104"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SMART INDIA HACKATHON 2026 · SOFTWARE</a:t>
            </a:r>
            <a:endParaRPr lang="en-US" sz="900" dirty="0"/>
          </a:p>
        </p:txBody>
      </p:sp>
      <p:sp>
        <p:nvSpPr>
          <p:cNvPr id="3" name="Shape 1"/>
          <p:cNvSpPr/>
          <p:nvPr/>
        </p:nvSpPr>
        <p:spPr>
          <a:xfrm>
            <a:off x="558786" y="947043"/>
            <a:ext cx="507888" cy="31651"/>
          </a:xfrm>
          <a:prstGeom prst="roundRect">
            <a:avLst>
              <a:gd name="adj" fmla="val 49998"/>
            </a:avLst>
          </a:prstGeom>
          <a:solidFill>
            <a:srgbClr val="1D4E89"/>
          </a:solidFill>
          <a:ln/>
        </p:spPr>
      </p:sp>
      <p:sp>
        <p:nvSpPr>
          <p:cNvPr id="4" name="Text 2"/>
          <p:cNvSpPr/>
          <p:nvPr/>
        </p:nvSpPr>
        <p:spPr>
          <a:xfrm>
            <a:off x="558786" y="1263154"/>
            <a:ext cx="5618419" cy="685998"/>
          </a:xfrm>
          <a:prstGeom prst="rect">
            <a:avLst/>
          </a:prstGeom>
          <a:noFill/>
          <a:ln/>
        </p:spPr>
        <p:txBody>
          <a:bodyPr wrap="square" lIns="0" tIns="0" rIns="0" bIns="0" rtlCol="0" anchor="t">
            <a:normAutofit/>
          </a:bodyPr>
          <a:lstStyle/>
          <a:p>
            <a:pPr marL="0" indent="0" algn="l">
              <a:lnSpc>
                <a:spcPct val="93000"/>
              </a:lnSpc>
              <a:buNone/>
            </a:pPr>
            <a:r>
              <a:rPr lang="en-US" sz="2400" b="1" kern="0" spc="-36" dirty="0">
                <a:solidFill>
                  <a:srgbClr val="172A46"/>
                </a:solidFill>
                <a:latin typeface="Arial Bold" pitchFamily="34" charset="0"/>
                <a:ea typeface="Arial Bold" pitchFamily="34" charset="-122"/>
                <a:cs typeface="Arial Bold" pitchFamily="34" charset="-120"/>
              </a:rPr>
              <a:t>COOPERATIVE GIG SERVICES PLATFORM</a:t>
            </a:r>
            <a:endParaRPr lang="en-US" sz="2400" dirty="0"/>
          </a:p>
        </p:txBody>
      </p:sp>
      <p:sp>
        <p:nvSpPr>
          <p:cNvPr id="5" name="Text 3"/>
          <p:cNvSpPr/>
          <p:nvPr/>
        </p:nvSpPr>
        <p:spPr>
          <a:xfrm>
            <a:off x="558786" y="2094805"/>
            <a:ext cx="5618419" cy="647700"/>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172A46"/>
                </a:solidFill>
                <a:latin typeface="Arial" pitchFamily="34" charset="0"/>
                <a:ea typeface="Arial" pitchFamily="34" charset="-122"/>
                <a:cs typeface="Arial" pitchFamily="34" charset="-120"/>
              </a:rPr>
              <a:t>A cooperative-owned digital marketplace for trusted local services. Connecting verified cooperative workers with households and institutions through a trusted digital service marketplace.</a:t>
            </a:r>
            <a:endParaRPr lang="en-US" sz="1350" dirty="0"/>
          </a:p>
        </p:txBody>
      </p:sp>
      <p:sp>
        <p:nvSpPr>
          <p:cNvPr id="6" name="Text 4"/>
          <p:cNvSpPr/>
          <p:nvPr/>
        </p:nvSpPr>
        <p:spPr>
          <a:xfrm>
            <a:off x="558786" y="2916634"/>
            <a:ext cx="1939976"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PROBLEM STATEMENT ID</a:t>
            </a:r>
            <a:endParaRPr lang="en-US" sz="900" dirty="0"/>
          </a:p>
        </p:txBody>
      </p:sp>
      <p:sp>
        <p:nvSpPr>
          <p:cNvPr id="7" name="Text 5"/>
          <p:cNvSpPr/>
          <p:nvPr/>
        </p:nvSpPr>
        <p:spPr>
          <a:xfrm>
            <a:off x="558786" y="3147417"/>
            <a:ext cx="2809209" cy="158750"/>
          </a:xfrm>
          <a:prstGeom prst="rect">
            <a:avLst/>
          </a:prstGeom>
          <a:noFill/>
          <a:ln/>
        </p:spPr>
        <p:txBody>
          <a:bodyPr wrap="none" lIns="0" tIns="0" rIns="0" bIns="0" rtlCol="0" anchor="t"/>
          <a:lstStyle/>
          <a:p>
            <a:pPr marL="0" indent="0" algn="l">
              <a:lnSpc>
                <a:spcPct val="104000"/>
              </a:lnSpc>
              <a:buNone/>
            </a:pPr>
            <a:r>
              <a:rPr lang="en-US" sz="1000" dirty="0">
                <a:solidFill>
                  <a:srgbClr val="172A46"/>
                </a:solidFill>
                <a:latin typeface="Arial" pitchFamily="34" charset="0"/>
                <a:ea typeface="Arial" pitchFamily="34" charset="-122"/>
                <a:cs typeface="Arial" pitchFamily="34" charset="-120"/>
              </a:rPr>
              <a:t>SIH - 26089</a:t>
            </a:r>
            <a:endParaRPr lang="en-US" sz="1000" dirty="0"/>
          </a:p>
        </p:txBody>
      </p:sp>
      <p:sp>
        <p:nvSpPr>
          <p:cNvPr id="8" name="Text 6"/>
          <p:cNvSpPr/>
          <p:nvPr/>
        </p:nvSpPr>
        <p:spPr>
          <a:xfrm>
            <a:off x="3571190" y="2916634"/>
            <a:ext cx="980158"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THEME</a:t>
            </a:r>
            <a:endParaRPr lang="en-US" sz="900" dirty="0"/>
          </a:p>
        </p:txBody>
      </p:sp>
      <p:sp>
        <p:nvSpPr>
          <p:cNvPr id="9" name="Text 7"/>
          <p:cNvSpPr/>
          <p:nvPr/>
        </p:nvSpPr>
        <p:spPr>
          <a:xfrm>
            <a:off x="3571190" y="3147417"/>
            <a:ext cx="2606014" cy="158750"/>
          </a:xfrm>
          <a:prstGeom prst="rect">
            <a:avLst/>
          </a:prstGeom>
          <a:noFill/>
          <a:ln/>
        </p:spPr>
        <p:txBody>
          <a:bodyPr wrap="none" lIns="0" tIns="0" rIns="0" bIns="0" rtlCol="0" anchor="t"/>
          <a:lstStyle/>
          <a:p>
            <a:pPr marL="0" indent="0" algn="l">
              <a:lnSpc>
                <a:spcPct val="104000"/>
              </a:lnSpc>
              <a:buNone/>
            </a:pPr>
            <a:r>
              <a:rPr lang="en-US" sz="1000" dirty="0">
                <a:solidFill>
                  <a:srgbClr val="172A46"/>
                </a:solidFill>
                <a:latin typeface="Arial" pitchFamily="34" charset="0"/>
                <a:ea typeface="Arial" pitchFamily="34" charset="-122"/>
                <a:cs typeface="Arial" pitchFamily="34" charset="-120"/>
              </a:rPr>
              <a:t>Agriculture, FoodTech &amp; Rural Development</a:t>
            </a:r>
            <a:endParaRPr lang="en-US" sz="1000" dirty="0"/>
          </a:p>
        </p:txBody>
      </p:sp>
      <p:sp>
        <p:nvSpPr>
          <p:cNvPr id="10" name="Text 8"/>
          <p:cNvSpPr/>
          <p:nvPr/>
        </p:nvSpPr>
        <p:spPr>
          <a:xfrm>
            <a:off x="558786" y="4117380"/>
            <a:ext cx="1457090"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ORGANIZATION</a:t>
            </a:r>
            <a:endParaRPr lang="en-US" sz="900" dirty="0"/>
          </a:p>
        </p:txBody>
      </p:sp>
      <p:sp>
        <p:nvSpPr>
          <p:cNvPr id="11" name="Text 9"/>
          <p:cNvSpPr/>
          <p:nvPr/>
        </p:nvSpPr>
        <p:spPr>
          <a:xfrm>
            <a:off x="558786" y="4348163"/>
            <a:ext cx="2809209" cy="158750"/>
          </a:xfrm>
          <a:prstGeom prst="rect">
            <a:avLst/>
          </a:prstGeom>
          <a:noFill/>
          <a:ln/>
        </p:spPr>
        <p:txBody>
          <a:bodyPr wrap="none" lIns="0" tIns="0" rIns="0" bIns="0" rtlCol="0" anchor="t"/>
          <a:lstStyle/>
          <a:p>
            <a:pPr marL="0" indent="0" algn="l">
              <a:lnSpc>
                <a:spcPct val="104000"/>
              </a:lnSpc>
              <a:buNone/>
            </a:pPr>
            <a:r>
              <a:rPr lang="en-US" sz="1000" dirty="0">
                <a:solidFill>
                  <a:srgbClr val="172A46"/>
                </a:solidFill>
                <a:latin typeface="Arial" pitchFamily="34" charset="0"/>
                <a:ea typeface="Arial" pitchFamily="34" charset="-122"/>
                <a:cs typeface="Arial" pitchFamily="34" charset="-120"/>
              </a:rPr>
              <a:t>Ministry of Cooperation</a:t>
            </a:r>
            <a:endParaRPr lang="en-US" sz="1000" dirty="0"/>
          </a:p>
        </p:txBody>
      </p:sp>
      <p:sp>
        <p:nvSpPr>
          <p:cNvPr id="12" name="Text 10"/>
          <p:cNvSpPr/>
          <p:nvPr/>
        </p:nvSpPr>
        <p:spPr>
          <a:xfrm>
            <a:off x="3571190" y="4117380"/>
            <a:ext cx="1335451"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DEPARTMENT</a:t>
            </a:r>
            <a:endParaRPr lang="en-US" sz="900" dirty="0"/>
          </a:p>
        </p:txBody>
      </p:sp>
      <p:sp>
        <p:nvSpPr>
          <p:cNvPr id="13" name="Text 11"/>
          <p:cNvSpPr/>
          <p:nvPr/>
        </p:nvSpPr>
        <p:spPr>
          <a:xfrm>
            <a:off x="3571190" y="4348163"/>
            <a:ext cx="2606014" cy="317500"/>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172A46"/>
                </a:solidFill>
                <a:latin typeface="Arial" pitchFamily="34" charset="0"/>
                <a:ea typeface="Arial" pitchFamily="34" charset="-122"/>
                <a:cs typeface="Arial" pitchFamily="34" charset="-120"/>
              </a:rPr>
              <a:t>National Council for Cooperative Training (NCCT)</a:t>
            </a:r>
            <a:endParaRPr lang="en-US" sz="1000" dirty="0"/>
          </a:p>
        </p:txBody>
      </p:sp>
      <p:sp>
        <p:nvSpPr>
          <p:cNvPr id="14" name="Text 12"/>
          <p:cNvSpPr/>
          <p:nvPr/>
        </p:nvSpPr>
        <p:spPr>
          <a:xfrm>
            <a:off x="558786" y="5114925"/>
            <a:ext cx="1355096"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PS CATEGORY</a:t>
            </a:r>
            <a:endParaRPr lang="en-US" sz="900" dirty="0"/>
          </a:p>
        </p:txBody>
      </p:sp>
      <p:sp>
        <p:nvSpPr>
          <p:cNvPr id="15" name="Text 13"/>
          <p:cNvSpPr/>
          <p:nvPr/>
        </p:nvSpPr>
        <p:spPr>
          <a:xfrm>
            <a:off x="558786" y="5345708"/>
            <a:ext cx="2809209" cy="158750"/>
          </a:xfrm>
          <a:prstGeom prst="rect">
            <a:avLst/>
          </a:prstGeom>
          <a:noFill/>
          <a:ln/>
        </p:spPr>
        <p:txBody>
          <a:bodyPr wrap="none" lIns="0" tIns="0" rIns="0" bIns="0" rtlCol="0" anchor="t"/>
          <a:lstStyle/>
          <a:p>
            <a:pPr marL="0" indent="0" algn="l">
              <a:lnSpc>
                <a:spcPct val="104000"/>
              </a:lnSpc>
              <a:buNone/>
            </a:pPr>
            <a:r>
              <a:rPr lang="en-US" sz="1000" dirty="0">
                <a:solidFill>
                  <a:srgbClr val="172A46"/>
                </a:solidFill>
                <a:latin typeface="Arial" pitchFamily="34" charset="0"/>
                <a:ea typeface="Arial" pitchFamily="34" charset="-122"/>
                <a:cs typeface="Arial" pitchFamily="34" charset="-120"/>
              </a:rPr>
              <a:t>Software</a:t>
            </a:r>
            <a:endParaRPr lang="en-US" sz="1000" dirty="0"/>
          </a:p>
        </p:txBody>
      </p:sp>
      <p:sp>
        <p:nvSpPr>
          <p:cNvPr id="16" name="Text 14"/>
          <p:cNvSpPr/>
          <p:nvPr/>
        </p:nvSpPr>
        <p:spPr>
          <a:xfrm>
            <a:off x="3571190" y="5114925"/>
            <a:ext cx="903463"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TEAM</a:t>
            </a:r>
            <a:endParaRPr lang="en-US" sz="900" dirty="0"/>
          </a:p>
        </p:txBody>
      </p:sp>
      <p:sp>
        <p:nvSpPr>
          <p:cNvPr id="17" name="Text 15"/>
          <p:cNvSpPr/>
          <p:nvPr/>
        </p:nvSpPr>
        <p:spPr>
          <a:xfrm>
            <a:off x="3571190" y="5345708"/>
            <a:ext cx="2606014" cy="158750"/>
          </a:xfrm>
          <a:prstGeom prst="rect">
            <a:avLst/>
          </a:prstGeom>
          <a:noFill/>
          <a:ln/>
        </p:spPr>
        <p:txBody>
          <a:bodyPr wrap="none" lIns="0" tIns="0" rIns="0" bIns="0" rtlCol="0" anchor="t"/>
          <a:lstStyle/>
          <a:p>
            <a:pPr marL="0" indent="0" algn="l">
              <a:lnSpc>
                <a:spcPct val="104000"/>
              </a:lnSpc>
              <a:buNone/>
            </a:pPr>
            <a:r>
              <a:rPr lang="en-US" sz="1000" dirty="0">
                <a:solidFill>
                  <a:srgbClr val="172A46"/>
                </a:solidFill>
                <a:latin typeface="Arial" pitchFamily="34" charset="0"/>
                <a:cs typeface="Arial" pitchFamily="34" charset="-120"/>
              </a:rPr>
              <a:t>Console Log</a:t>
            </a:r>
            <a:endParaRPr lang="en-US" sz="1000" dirty="0"/>
          </a:p>
        </p:txBody>
      </p:sp>
      <p:sp>
        <p:nvSpPr>
          <p:cNvPr id="18" name="Text 16"/>
          <p:cNvSpPr/>
          <p:nvPr/>
        </p:nvSpPr>
        <p:spPr>
          <a:xfrm>
            <a:off x="558786" y="6112470"/>
            <a:ext cx="2103186" cy="137120"/>
          </a:xfrm>
          <a:prstGeom prst="rect">
            <a:avLst/>
          </a:prstGeom>
          <a:noFill/>
          <a:ln/>
        </p:spPr>
        <p:txBody>
          <a:bodyPr wrap="none" lIns="0" tIns="0" rIns="0" bIns="0" rtlCol="0" anchor="t"/>
          <a:lstStyle/>
          <a:p>
            <a:pPr marL="0" indent="0" algn="l">
              <a:lnSpc>
                <a:spcPct val="100000"/>
              </a:lnSpc>
              <a:buNone/>
            </a:pPr>
            <a:r>
              <a:rPr lang="en-US" sz="900" kern="0" spc="72" dirty="0">
                <a:solidFill>
                  <a:srgbClr val="536579"/>
                </a:solidFill>
                <a:latin typeface="Galdeano" pitchFamily="34" charset="0"/>
                <a:ea typeface="Galdeano" pitchFamily="34" charset="-122"/>
                <a:cs typeface="Galdeano" pitchFamily="34" charset="-120"/>
              </a:rPr>
              <a:t>PROBLEM STATEMENT TITLE</a:t>
            </a:r>
            <a:endParaRPr lang="en-US" sz="900" dirty="0"/>
          </a:p>
        </p:txBody>
      </p:sp>
      <p:sp>
        <p:nvSpPr>
          <p:cNvPr id="19" name="Text 17"/>
          <p:cNvSpPr/>
          <p:nvPr/>
        </p:nvSpPr>
        <p:spPr>
          <a:xfrm>
            <a:off x="558786" y="6343253"/>
            <a:ext cx="5618419" cy="158750"/>
          </a:xfrm>
          <a:prstGeom prst="rect">
            <a:avLst/>
          </a:prstGeom>
          <a:noFill/>
          <a:ln/>
        </p:spPr>
        <p:txBody>
          <a:bodyPr wrap="none" lIns="0" tIns="0" rIns="0" bIns="0" rtlCol="0" anchor="t"/>
          <a:lstStyle/>
          <a:p>
            <a:pPr marL="0" indent="0" algn="l">
              <a:lnSpc>
                <a:spcPct val="104000"/>
              </a:lnSpc>
              <a:buNone/>
            </a:pPr>
            <a:r>
              <a:rPr lang="en-US" sz="1000" dirty="0">
                <a:solidFill>
                  <a:srgbClr val="172A46"/>
                </a:solidFill>
                <a:latin typeface="Arial" pitchFamily="34" charset="0"/>
                <a:ea typeface="Arial" pitchFamily="34" charset="-122"/>
                <a:cs typeface="Arial" pitchFamily="34" charset="-120"/>
              </a:rPr>
              <a:t>Cooperative Gig Services Platform for Household &amp; Community Services</a:t>
            </a:r>
            <a:endParaRPr lang="en-US" sz="1000" dirty="0"/>
          </a:p>
        </p:txBody>
      </p:sp>
      <p:pic>
        <p:nvPicPr>
          <p:cNvPr id="20" name="Image 0" descr="preencoded.png"/>
          <p:cNvPicPr>
            <a:picLocks noChangeAspect="1"/>
          </p:cNvPicPr>
          <p:nvPr/>
        </p:nvPicPr>
        <p:blipFill>
          <a:blip r:embed="rId3"/>
          <a:stretch>
            <a:fillRect/>
          </a:stretch>
        </p:blipFill>
        <p:spPr>
          <a:xfrm>
            <a:off x="8854159" y="453033"/>
            <a:ext cx="1523962" cy="1524000"/>
          </a:xfrm>
          <a:prstGeom prst="rect">
            <a:avLst/>
          </a:prstGeom>
        </p:spPr>
      </p:pic>
      <p:sp>
        <p:nvSpPr>
          <p:cNvPr id="21" name="Shape 18"/>
          <p:cNvSpPr/>
          <p:nvPr/>
        </p:nvSpPr>
        <p:spPr>
          <a:xfrm>
            <a:off x="9606615" y="2108299"/>
            <a:ext cx="19050" cy="4296767"/>
          </a:xfrm>
          <a:prstGeom prst="roundRect">
            <a:avLst>
              <a:gd name="adj" fmla="val 49999"/>
            </a:avLst>
          </a:prstGeom>
          <a:solidFill>
            <a:srgbClr val="D8D4D4"/>
          </a:solidFill>
          <a:ln/>
        </p:spPr>
      </p:sp>
      <p:sp>
        <p:nvSpPr>
          <p:cNvPr id="22" name="Shape 19"/>
          <p:cNvSpPr/>
          <p:nvPr/>
        </p:nvSpPr>
        <p:spPr>
          <a:xfrm>
            <a:off x="9349347" y="2259509"/>
            <a:ext cx="285842" cy="19050"/>
          </a:xfrm>
          <a:prstGeom prst="roundRect">
            <a:avLst>
              <a:gd name="adj" fmla="val 49999"/>
            </a:avLst>
          </a:prstGeom>
          <a:solidFill>
            <a:srgbClr val="D8D4D4"/>
          </a:solidFill>
          <a:ln/>
        </p:spPr>
      </p:sp>
      <p:sp>
        <p:nvSpPr>
          <p:cNvPr id="23" name="Shape 20"/>
          <p:cNvSpPr/>
          <p:nvPr/>
        </p:nvSpPr>
        <p:spPr>
          <a:xfrm>
            <a:off x="9562563" y="2215455"/>
            <a:ext cx="107154" cy="107156"/>
          </a:xfrm>
          <a:prstGeom prst="ellipse">
            <a:avLst/>
          </a:prstGeom>
          <a:solidFill>
            <a:srgbClr val="1D4E89"/>
          </a:solidFill>
          <a:ln/>
        </p:spPr>
      </p:sp>
      <p:sp>
        <p:nvSpPr>
          <p:cNvPr id="24" name="Text 21"/>
          <p:cNvSpPr/>
          <p:nvPr/>
        </p:nvSpPr>
        <p:spPr>
          <a:xfrm>
            <a:off x="7599470" y="2169021"/>
            <a:ext cx="1444986" cy="391914"/>
          </a:xfrm>
          <a:prstGeom prst="rect">
            <a:avLst/>
          </a:prstGeom>
          <a:noFill/>
          <a:ln/>
        </p:spPr>
        <p:txBody>
          <a:bodyPr wrap="square" lIns="0" tIns="0" rIns="0" bIns="0" rtlCol="0" anchor="t">
            <a:normAutofit lnSpcReduction="10000"/>
          </a:bodyPr>
          <a:lstStyle/>
          <a:p>
            <a:pPr marL="0" indent="0" algn="r">
              <a:lnSpc>
                <a:spcPct val="100000"/>
              </a:lnSpc>
              <a:buNone/>
            </a:pPr>
            <a:r>
              <a:rPr lang="en-US" sz="1300" b="1" kern="0" spc="-19" dirty="0">
                <a:solidFill>
                  <a:srgbClr val="172A46"/>
                </a:solidFill>
                <a:latin typeface="Arial Bold" pitchFamily="34" charset="0"/>
                <a:ea typeface="Arial Bold" pitchFamily="34" charset="-122"/>
                <a:cs typeface="Arial Bold" pitchFamily="34" charset="-120"/>
              </a:rPr>
              <a:t>Cooperative Workers</a:t>
            </a:r>
            <a:endParaRPr lang="en-US" sz="1300" dirty="0"/>
          </a:p>
        </p:txBody>
      </p:sp>
      <p:sp>
        <p:nvSpPr>
          <p:cNvPr id="25" name="Shape 22"/>
          <p:cNvSpPr/>
          <p:nvPr/>
        </p:nvSpPr>
        <p:spPr>
          <a:xfrm>
            <a:off x="9597090" y="3117056"/>
            <a:ext cx="285842" cy="19050"/>
          </a:xfrm>
          <a:prstGeom prst="roundRect">
            <a:avLst>
              <a:gd name="adj" fmla="val 49999"/>
            </a:avLst>
          </a:prstGeom>
          <a:solidFill>
            <a:srgbClr val="D8D4D4"/>
          </a:solidFill>
          <a:ln/>
        </p:spPr>
      </p:sp>
      <p:sp>
        <p:nvSpPr>
          <p:cNvPr id="26" name="Shape 23"/>
          <p:cNvSpPr/>
          <p:nvPr/>
        </p:nvSpPr>
        <p:spPr>
          <a:xfrm>
            <a:off x="9562563" y="3073003"/>
            <a:ext cx="107154" cy="107156"/>
          </a:xfrm>
          <a:prstGeom prst="ellipse">
            <a:avLst/>
          </a:prstGeom>
          <a:solidFill>
            <a:srgbClr val="1D4E89"/>
          </a:solidFill>
          <a:ln/>
        </p:spPr>
      </p:sp>
      <p:sp>
        <p:nvSpPr>
          <p:cNvPr id="27" name="Text 24"/>
          <p:cNvSpPr/>
          <p:nvPr/>
        </p:nvSpPr>
        <p:spPr>
          <a:xfrm>
            <a:off x="10187824" y="3026569"/>
            <a:ext cx="1445085" cy="391914"/>
          </a:xfrm>
          <a:prstGeom prst="rect">
            <a:avLst/>
          </a:prstGeom>
          <a:noFill/>
          <a:ln/>
        </p:spPr>
        <p:txBody>
          <a:bodyPr wrap="square" lIns="0" tIns="0" rIns="0" bIns="0" rtlCol="0" anchor="t">
            <a:normAutofit lnSpcReduction="10000"/>
          </a:bodyPr>
          <a:lstStyle/>
          <a:p>
            <a:pPr marL="0" indent="0" algn="l">
              <a:lnSpc>
                <a:spcPct val="100000"/>
              </a:lnSpc>
              <a:buNone/>
            </a:pPr>
            <a:r>
              <a:rPr lang="en-US" sz="1300" b="1" kern="0" spc="-19" dirty="0">
                <a:solidFill>
                  <a:srgbClr val="172A46"/>
                </a:solidFill>
                <a:latin typeface="Arial Bold" pitchFamily="34" charset="0"/>
                <a:ea typeface="Arial Bold" pitchFamily="34" charset="-122"/>
                <a:cs typeface="Arial Bold" pitchFamily="34" charset="-120"/>
              </a:rPr>
              <a:t>Digital Service Platform</a:t>
            </a:r>
            <a:endParaRPr lang="en-US" sz="1300" dirty="0"/>
          </a:p>
        </p:txBody>
      </p:sp>
      <p:sp>
        <p:nvSpPr>
          <p:cNvPr id="28" name="Shape 25"/>
          <p:cNvSpPr/>
          <p:nvPr/>
        </p:nvSpPr>
        <p:spPr>
          <a:xfrm>
            <a:off x="9349347" y="3861991"/>
            <a:ext cx="285842" cy="19050"/>
          </a:xfrm>
          <a:prstGeom prst="roundRect">
            <a:avLst>
              <a:gd name="adj" fmla="val 49999"/>
            </a:avLst>
          </a:prstGeom>
          <a:solidFill>
            <a:srgbClr val="D8D4D4"/>
          </a:solidFill>
          <a:ln/>
        </p:spPr>
      </p:sp>
      <p:sp>
        <p:nvSpPr>
          <p:cNvPr id="29" name="Shape 26"/>
          <p:cNvSpPr/>
          <p:nvPr/>
        </p:nvSpPr>
        <p:spPr>
          <a:xfrm>
            <a:off x="9562563" y="3817938"/>
            <a:ext cx="107154" cy="107156"/>
          </a:xfrm>
          <a:prstGeom prst="ellipse">
            <a:avLst/>
          </a:prstGeom>
          <a:solidFill>
            <a:srgbClr val="1D4E89"/>
          </a:solidFill>
          <a:ln/>
        </p:spPr>
      </p:sp>
      <p:sp>
        <p:nvSpPr>
          <p:cNvPr id="30" name="Text 27"/>
          <p:cNvSpPr/>
          <p:nvPr/>
        </p:nvSpPr>
        <p:spPr>
          <a:xfrm>
            <a:off x="7599470" y="3771503"/>
            <a:ext cx="1444986" cy="391914"/>
          </a:xfrm>
          <a:prstGeom prst="rect">
            <a:avLst/>
          </a:prstGeom>
          <a:noFill/>
          <a:ln/>
        </p:spPr>
        <p:txBody>
          <a:bodyPr wrap="square" lIns="0" tIns="0" rIns="0" bIns="0" rtlCol="0" anchor="t">
            <a:normAutofit lnSpcReduction="10000"/>
          </a:bodyPr>
          <a:lstStyle/>
          <a:p>
            <a:pPr marL="0" indent="0" algn="r">
              <a:lnSpc>
                <a:spcPct val="100000"/>
              </a:lnSpc>
              <a:buNone/>
            </a:pPr>
            <a:r>
              <a:rPr lang="en-US" sz="1300" b="1" kern="0" spc="-19" dirty="0">
                <a:solidFill>
                  <a:srgbClr val="172A46"/>
                </a:solidFill>
                <a:latin typeface="Arial Bold" pitchFamily="34" charset="0"/>
                <a:ea typeface="Arial Bold" pitchFamily="34" charset="-122"/>
                <a:cs typeface="Arial Bold" pitchFamily="34" charset="-120"/>
              </a:rPr>
              <a:t>Verified Service Matching</a:t>
            </a:r>
            <a:endParaRPr lang="en-US" sz="1300" dirty="0"/>
          </a:p>
        </p:txBody>
      </p:sp>
      <p:sp>
        <p:nvSpPr>
          <p:cNvPr id="31" name="Shape 28"/>
          <p:cNvSpPr/>
          <p:nvPr/>
        </p:nvSpPr>
        <p:spPr>
          <a:xfrm>
            <a:off x="9597090" y="4607024"/>
            <a:ext cx="285842" cy="19050"/>
          </a:xfrm>
          <a:prstGeom prst="roundRect">
            <a:avLst>
              <a:gd name="adj" fmla="val 49999"/>
            </a:avLst>
          </a:prstGeom>
          <a:solidFill>
            <a:srgbClr val="D8D4D4"/>
          </a:solidFill>
          <a:ln/>
        </p:spPr>
      </p:sp>
      <p:sp>
        <p:nvSpPr>
          <p:cNvPr id="32" name="Shape 29"/>
          <p:cNvSpPr/>
          <p:nvPr/>
        </p:nvSpPr>
        <p:spPr>
          <a:xfrm>
            <a:off x="9562563" y="4562971"/>
            <a:ext cx="107154" cy="107156"/>
          </a:xfrm>
          <a:prstGeom prst="ellipse">
            <a:avLst/>
          </a:prstGeom>
          <a:solidFill>
            <a:srgbClr val="1D4E89"/>
          </a:solidFill>
          <a:ln/>
        </p:spPr>
      </p:sp>
      <p:sp>
        <p:nvSpPr>
          <p:cNvPr id="33" name="Text 30"/>
          <p:cNvSpPr/>
          <p:nvPr/>
        </p:nvSpPr>
        <p:spPr>
          <a:xfrm>
            <a:off x="10187824" y="4516537"/>
            <a:ext cx="1445085" cy="391914"/>
          </a:xfrm>
          <a:prstGeom prst="rect">
            <a:avLst/>
          </a:prstGeom>
          <a:noFill/>
          <a:ln/>
        </p:spPr>
        <p:txBody>
          <a:bodyPr wrap="square" lIns="0" tIns="0" rIns="0" bIns="0" rtlCol="0" anchor="t">
            <a:normAutofit lnSpcReduction="10000"/>
          </a:bodyPr>
          <a:lstStyle/>
          <a:p>
            <a:pPr marL="0" indent="0" algn="l">
              <a:lnSpc>
                <a:spcPct val="100000"/>
              </a:lnSpc>
              <a:buNone/>
            </a:pPr>
            <a:r>
              <a:rPr lang="en-US" sz="1300" b="1" kern="0" spc="-19" dirty="0">
                <a:solidFill>
                  <a:srgbClr val="172A46"/>
                </a:solidFill>
                <a:latin typeface="Arial Bold" pitchFamily="34" charset="0"/>
                <a:ea typeface="Arial Bold" pitchFamily="34" charset="-122"/>
                <a:cs typeface="Arial Bold" pitchFamily="34" charset="-120"/>
              </a:rPr>
              <a:t>Household / Institution</a:t>
            </a:r>
            <a:endParaRPr lang="en-US" sz="1300" dirty="0"/>
          </a:p>
        </p:txBody>
      </p:sp>
      <p:sp>
        <p:nvSpPr>
          <p:cNvPr id="34" name="Shape 31"/>
          <p:cNvSpPr/>
          <p:nvPr/>
        </p:nvSpPr>
        <p:spPr>
          <a:xfrm>
            <a:off x="9349347" y="5352058"/>
            <a:ext cx="285842" cy="19050"/>
          </a:xfrm>
          <a:prstGeom prst="roundRect">
            <a:avLst>
              <a:gd name="adj" fmla="val 49999"/>
            </a:avLst>
          </a:prstGeom>
          <a:solidFill>
            <a:srgbClr val="D8D4D4"/>
          </a:solidFill>
          <a:ln/>
        </p:spPr>
      </p:sp>
      <p:sp>
        <p:nvSpPr>
          <p:cNvPr id="35" name="Shape 32"/>
          <p:cNvSpPr/>
          <p:nvPr/>
        </p:nvSpPr>
        <p:spPr>
          <a:xfrm>
            <a:off x="9562563" y="5308005"/>
            <a:ext cx="107154" cy="107156"/>
          </a:xfrm>
          <a:prstGeom prst="ellipse">
            <a:avLst/>
          </a:prstGeom>
          <a:solidFill>
            <a:srgbClr val="1D4E89"/>
          </a:solidFill>
          <a:ln/>
        </p:spPr>
      </p:sp>
      <p:sp>
        <p:nvSpPr>
          <p:cNvPr id="36" name="Text 33"/>
          <p:cNvSpPr/>
          <p:nvPr/>
        </p:nvSpPr>
        <p:spPr>
          <a:xfrm>
            <a:off x="7599470" y="5261570"/>
            <a:ext cx="1444986" cy="587871"/>
          </a:xfrm>
          <a:prstGeom prst="rect">
            <a:avLst/>
          </a:prstGeom>
          <a:noFill/>
          <a:ln/>
        </p:spPr>
        <p:txBody>
          <a:bodyPr wrap="square" lIns="0" tIns="0" rIns="0" bIns="0" rtlCol="0" anchor="t">
            <a:normAutofit lnSpcReduction="10000"/>
          </a:bodyPr>
          <a:lstStyle/>
          <a:p>
            <a:pPr marL="0" indent="0" algn="r">
              <a:lnSpc>
                <a:spcPct val="100000"/>
              </a:lnSpc>
              <a:buNone/>
            </a:pPr>
            <a:r>
              <a:rPr lang="en-US" sz="1300" b="1" kern="0" spc="-19" dirty="0">
                <a:solidFill>
                  <a:srgbClr val="172A46"/>
                </a:solidFill>
                <a:latin typeface="Arial Bold" pitchFamily="34" charset="0"/>
                <a:ea typeface="Arial Bold" pitchFamily="34" charset="-122"/>
                <a:cs typeface="Arial Bold" pitchFamily="34" charset="-120"/>
              </a:rPr>
              <a:t>Transparent Payment + Worker Welfare</a:t>
            </a:r>
            <a:endParaRPr lang="en-US" sz="1300" dirty="0"/>
          </a:p>
        </p:txBody>
      </p:sp>
      <p:sp>
        <p:nvSpPr>
          <p:cNvPr id="37" name="Shape 34"/>
          <p:cNvSpPr/>
          <p:nvPr/>
        </p:nvSpPr>
        <p:spPr>
          <a:xfrm>
            <a:off x="3361646" y="2873772"/>
            <a:ext cx="12700" cy="997545"/>
          </a:xfrm>
          <a:prstGeom prst="rect">
            <a:avLst/>
          </a:prstGeom>
          <a:solidFill>
            <a:srgbClr val="7EA6D8"/>
          </a:solidFill>
          <a:ln/>
        </p:spPr>
      </p:sp>
      <p:sp>
        <p:nvSpPr>
          <p:cNvPr id="38" name="Shape 35"/>
          <p:cNvSpPr/>
          <p:nvPr/>
        </p:nvSpPr>
        <p:spPr>
          <a:xfrm>
            <a:off x="558786" y="3864967"/>
            <a:ext cx="2809209" cy="12700"/>
          </a:xfrm>
          <a:prstGeom prst="rect">
            <a:avLst/>
          </a:prstGeom>
          <a:solidFill>
            <a:srgbClr val="7EA6D8"/>
          </a:solidFill>
          <a:ln/>
        </p:spPr>
      </p:sp>
      <p:sp>
        <p:nvSpPr>
          <p:cNvPr id="39" name="Shape 36"/>
          <p:cNvSpPr/>
          <p:nvPr/>
        </p:nvSpPr>
        <p:spPr>
          <a:xfrm>
            <a:off x="3361646" y="3871317"/>
            <a:ext cx="12700" cy="997545"/>
          </a:xfrm>
          <a:prstGeom prst="rect">
            <a:avLst/>
          </a:prstGeom>
          <a:solidFill>
            <a:srgbClr val="7EA6D8"/>
          </a:solidFill>
          <a:ln/>
        </p:spPr>
      </p:sp>
      <p:sp>
        <p:nvSpPr>
          <p:cNvPr id="40" name="Shape 37"/>
          <p:cNvSpPr/>
          <p:nvPr/>
        </p:nvSpPr>
        <p:spPr>
          <a:xfrm>
            <a:off x="3367995" y="3864967"/>
            <a:ext cx="2809209" cy="12700"/>
          </a:xfrm>
          <a:prstGeom prst="rect">
            <a:avLst/>
          </a:prstGeom>
          <a:solidFill>
            <a:srgbClr val="7EA6D8"/>
          </a:solidFill>
          <a:ln/>
        </p:spPr>
      </p:sp>
      <p:sp>
        <p:nvSpPr>
          <p:cNvPr id="41" name="Shape 38"/>
          <p:cNvSpPr/>
          <p:nvPr/>
        </p:nvSpPr>
        <p:spPr>
          <a:xfrm>
            <a:off x="558786" y="4862512"/>
            <a:ext cx="2809209" cy="12700"/>
          </a:xfrm>
          <a:prstGeom prst="rect">
            <a:avLst/>
          </a:prstGeom>
          <a:solidFill>
            <a:srgbClr val="7EA6D8"/>
          </a:solidFill>
          <a:ln/>
        </p:spPr>
      </p:sp>
      <p:sp>
        <p:nvSpPr>
          <p:cNvPr id="42" name="Shape 39"/>
          <p:cNvSpPr/>
          <p:nvPr/>
        </p:nvSpPr>
        <p:spPr>
          <a:xfrm>
            <a:off x="3361646" y="4868863"/>
            <a:ext cx="12700" cy="997545"/>
          </a:xfrm>
          <a:prstGeom prst="rect">
            <a:avLst/>
          </a:prstGeom>
          <a:solidFill>
            <a:srgbClr val="7EA6D8"/>
          </a:solidFill>
          <a:ln/>
        </p:spPr>
      </p:sp>
      <p:sp>
        <p:nvSpPr>
          <p:cNvPr id="43" name="Shape 40"/>
          <p:cNvSpPr/>
          <p:nvPr/>
        </p:nvSpPr>
        <p:spPr>
          <a:xfrm>
            <a:off x="3367995" y="4862512"/>
            <a:ext cx="2809209" cy="12700"/>
          </a:xfrm>
          <a:prstGeom prst="rect">
            <a:avLst/>
          </a:prstGeom>
          <a:solidFill>
            <a:srgbClr val="7EA6D8"/>
          </a:solidFill>
          <a:ln/>
        </p:spPr>
      </p:sp>
      <p:sp>
        <p:nvSpPr>
          <p:cNvPr id="44" name="Shape 41"/>
          <p:cNvSpPr/>
          <p:nvPr/>
        </p:nvSpPr>
        <p:spPr>
          <a:xfrm>
            <a:off x="558786" y="5860058"/>
            <a:ext cx="5618419" cy="12700"/>
          </a:xfrm>
          <a:prstGeom prst="rect">
            <a:avLst/>
          </a:prstGeom>
          <a:solidFill>
            <a:srgbClr val="7EA6D8"/>
          </a:solidFill>
          <a:ln/>
        </p:spPr>
      </p:sp>
      <p:sp>
        <p:nvSpPr>
          <p:cNvPr id="45" name="Rectangle 44">
            <a:extLst>
              <a:ext uri="{FF2B5EF4-FFF2-40B4-BE49-F238E27FC236}">
                <a16:creationId xmlns:a16="http://schemas.microsoft.com/office/drawing/2014/main" id="{82698BB4-5B1A-4FC5-8C4B-D414144766B4}"/>
              </a:ext>
            </a:extLst>
          </p:cNvPr>
          <p:cNvSpPr/>
          <p:nvPr/>
        </p:nvSpPr>
        <p:spPr>
          <a:xfrm>
            <a:off x="10983489" y="6499820"/>
            <a:ext cx="1208206" cy="358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801A49D-9B51-4A45-BBE2-0AD10B043477}"/>
              </a:ext>
            </a:extLst>
          </p:cNvPr>
          <p:cNvSpPr/>
          <p:nvPr/>
        </p:nvSpPr>
        <p:spPr>
          <a:xfrm>
            <a:off x="10954073" y="6474420"/>
            <a:ext cx="1208206" cy="358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558786" y="558800"/>
            <a:ext cx="11632909"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536579"/>
                </a:solidFill>
                <a:latin typeface="Galdeano" pitchFamily="34" charset="0"/>
                <a:ea typeface="Galdeano" pitchFamily="34" charset="-122"/>
                <a:cs typeface="Galdeano" pitchFamily="34" charset="-120"/>
              </a:rPr>
              <a:t>01 · PLATFORM MODEL</a:t>
            </a:r>
            <a:endParaRPr lang="en-US" sz="1100" dirty="0"/>
          </a:p>
        </p:txBody>
      </p:sp>
      <p:sp>
        <p:nvSpPr>
          <p:cNvPr id="3" name="Text 1"/>
          <p:cNvSpPr/>
          <p:nvPr/>
        </p:nvSpPr>
        <p:spPr>
          <a:xfrm>
            <a:off x="558786" y="848221"/>
            <a:ext cx="11074123" cy="853281"/>
          </a:xfrm>
          <a:prstGeom prst="rect">
            <a:avLst/>
          </a:prstGeom>
          <a:noFill/>
          <a:ln/>
        </p:spPr>
        <p:txBody>
          <a:bodyPr wrap="square" lIns="0" tIns="0" rIns="0" bIns="0" rtlCol="0" anchor="t">
            <a:normAutofit/>
          </a:bodyPr>
          <a:lstStyle/>
          <a:p>
            <a:pPr marL="0" indent="0" algn="l">
              <a:lnSpc>
                <a:spcPct val="93000"/>
              </a:lnSpc>
              <a:buNone/>
            </a:pPr>
            <a:r>
              <a:rPr lang="en-US" sz="3000" b="1" kern="0" spc="-45" dirty="0">
                <a:solidFill>
                  <a:srgbClr val="172A46"/>
                </a:solidFill>
                <a:latin typeface="Arial Bold" pitchFamily="34" charset="0"/>
                <a:ea typeface="Arial Bold" pitchFamily="34" charset="-122"/>
                <a:cs typeface="Arial Bold" pitchFamily="34" charset="-120"/>
              </a:rPr>
              <a:t>THE PLATFORM TURNS LOCAL COOPERATIVE CAPACITY INTO TRUSTED SERVICE ACCESS</a:t>
            </a:r>
            <a:endParaRPr lang="en-US" sz="3000" dirty="0"/>
          </a:p>
        </p:txBody>
      </p:sp>
      <p:sp>
        <p:nvSpPr>
          <p:cNvPr id="4" name="Text 2"/>
          <p:cNvSpPr/>
          <p:nvPr/>
        </p:nvSpPr>
        <p:spPr>
          <a:xfrm>
            <a:off x="558786"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1</a:t>
            </a:r>
            <a:endParaRPr lang="en-US" sz="2200" dirty="0"/>
          </a:p>
        </p:txBody>
      </p:sp>
      <p:sp>
        <p:nvSpPr>
          <p:cNvPr id="5" name="Text 3"/>
          <p:cNvSpPr/>
          <p:nvPr/>
        </p:nvSpPr>
        <p:spPr>
          <a:xfrm>
            <a:off x="558786" y="2409527"/>
            <a:ext cx="1483283" cy="975122"/>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Labour Cooperative Federation / Society</a:t>
            </a:r>
            <a:endParaRPr lang="en-US" sz="1600" dirty="0"/>
          </a:p>
        </p:txBody>
      </p:sp>
      <p:sp>
        <p:nvSpPr>
          <p:cNvPr id="6" name="Text 4"/>
          <p:cNvSpPr/>
          <p:nvPr/>
        </p:nvSpPr>
        <p:spPr>
          <a:xfrm>
            <a:off x="2397660"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2</a:t>
            </a:r>
            <a:endParaRPr lang="en-US" sz="2200" dirty="0"/>
          </a:p>
        </p:txBody>
      </p:sp>
      <p:sp>
        <p:nvSpPr>
          <p:cNvPr id="7" name="Text 5"/>
          <p:cNvSpPr/>
          <p:nvPr/>
        </p:nvSpPr>
        <p:spPr>
          <a:xfrm>
            <a:off x="2397660" y="2409527"/>
            <a:ext cx="1305488" cy="73134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Worker Registration + Verification</a:t>
            </a:r>
            <a:endParaRPr lang="en-US" sz="1600" dirty="0"/>
          </a:p>
        </p:txBody>
      </p:sp>
      <p:sp>
        <p:nvSpPr>
          <p:cNvPr id="8" name="Text 6"/>
          <p:cNvSpPr/>
          <p:nvPr/>
        </p:nvSpPr>
        <p:spPr>
          <a:xfrm>
            <a:off x="4058739"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3</a:t>
            </a:r>
            <a:endParaRPr lang="en-US" sz="2200" dirty="0"/>
          </a:p>
        </p:txBody>
      </p:sp>
      <p:sp>
        <p:nvSpPr>
          <p:cNvPr id="9" name="Text 7"/>
          <p:cNvSpPr/>
          <p:nvPr/>
        </p:nvSpPr>
        <p:spPr>
          <a:xfrm>
            <a:off x="4058739" y="2409527"/>
            <a:ext cx="1305587" cy="73134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Cooperative Service Platform</a:t>
            </a:r>
            <a:endParaRPr lang="en-US" sz="1600" dirty="0"/>
          </a:p>
        </p:txBody>
      </p:sp>
      <p:sp>
        <p:nvSpPr>
          <p:cNvPr id="10" name="Text 8"/>
          <p:cNvSpPr/>
          <p:nvPr/>
        </p:nvSpPr>
        <p:spPr>
          <a:xfrm>
            <a:off x="5719917"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4</a:t>
            </a:r>
            <a:endParaRPr lang="en-US" sz="2200" dirty="0"/>
          </a:p>
        </p:txBody>
      </p:sp>
      <p:sp>
        <p:nvSpPr>
          <p:cNvPr id="11" name="Text 9"/>
          <p:cNvSpPr/>
          <p:nvPr/>
        </p:nvSpPr>
        <p:spPr>
          <a:xfrm>
            <a:off x="5719917" y="2409527"/>
            <a:ext cx="1305488" cy="73134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Customer Booking + Geo-Matching</a:t>
            </a:r>
            <a:endParaRPr lang="en-US" sz="1600" dirty="0"/>
          </a:p>
        </p:txBody>
      </p:sp>
      <p:sp>
        <p:nvSpPr>
          <p:cNvPr id="12" name="Text 10"/>
          <p:cNvSpPr/>
          <p:nvPr/>
        </p:nvSpPr>
        <p:spPr>
          <a:xfrm>
            <a:off x="7380996"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5</a:t>
            </a:r>
            <a:endParaRPr lang="en-US" sz="2200" dirty="0"/>
          </a:p>
        </p:txBody>
      </p:sp>
      <p:sp>
        <p:nvSpPr>
          <p:cNvPr id="13" name="Text 11"/>
          <p:cNvSpPr/>
          <p:nvPr/>
        </p:nvSpPr>
        <p:spPr>
          <a:xfrm>
            <a:off x="7380996" y="2409527"/>
            <a:ext cx="1120945"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Verified Worker</a:t>
            </a:r>
            <a:endParaRPr lang="en-US" sz="1600" dirty="0"/>
          </a:p>
        </p:txBody>
      </p:sp>
      <p:sp>
        <p:nvSpPr>
          <p:cNvPr id="14" name="Text 12"/>
          <p:cNvSpPr/>
          <p:nvPr/>
        </p:nvSpPr>
        <p:spPr>
          <a:xfrm>
            <a:off x="8857532"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6</a:t>
            </a:r>
            <a:endParaRPr lang="en-US" sz="2200" dirty="0"/>
          </a:p>
        </p:txBody>
      </p:sp>
      <p:sp>
        <p:nvSpPr>
          <p:cNvPr id="15" name="Text 13"/>
          <p:cNvSpPr/>
          <p:nvPr/>
        </p:nvSpPr>
        <p:spPr>
          <a:xfrm>
            <a:off x="8857532" y="2409527"/>
            <a:ext cx="1120945"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Service Completed</a:t>
            </a:r>
            <a:endParaRPr lang="en-US" sz="1600" dirty="0"/>
          </a:p>
        </p:txBody>
      </p:sp>
      <p:sp>
        <p:nvSpPr>
          <p:cNvPr id="16" name="Text 14"/>
          <p:cNvSpPr/>
          <p:nvPr/>
        </p:nvSpPr>
        <p:spPr>
          <a:xfrm>
            <a:off x="10334069" y="1926927"/>
            <a:ext cx="769422" cy="279400"/>
          </a:xfrm>
          <a:prstGeom prst="rect">
            <a:avLst/>
          </a:prstGeom>
          <a:noFill/>
          <a:ln/>
        </p:spPr>
        <p:txBody>
          <a:bodyPr wrap="none" lIns="0" tIns="0" rIns="0" bIns="0" rtlCol="0" anchor="t"/>
          <a:lstStyle/>
          <a:p>
            <a:pPr marL="0" indent="0" algn="l">
              <a:lnSpc>
                <a:spcPct val="83000"/>
              </a:lnSpc>
              <a:buNone/>
            </a:pPr>
            <a:r>
              <a:rPr lang="en-US" sz="2200" b="1" dirty="0">
                <a:solidFill>
                  <a:srgbClr val="1D4E89"/>
                </a:solidFill>
                <a:latin typeface="Arial Bold" pitchFamily="34" charset="0"/>
                <a:ea typeface="Arial Bold" pitchFamily="34" charset="-122"/>
                <a:cs typeface="Arial Bold" pitchFamily="34" charset="-120"/>
              </a:rPr>
              <a:t>7</a:t>
            </a:r>
            <a:endParaRPr lang="en-US" sz="2200" dirty="0"/>
          </a:p>
        </p:txBody>
      </p:sp>
      <p:sp>
        <p:nvSpPr>
          <p:cNvPr id="17" name="Text 15"/>
          <p:cNvSpPr/>
          <p:nvPr/>
        </p:nvSpPr>
        <p:spPr>
          <a:xfrm>
            <a:off x="10334069" y="2409527"/>
            <a:ext cx="1298840"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Payment + Invoice + Rating</a:t>
            </a:r>
            <a:endParaRPr lang="en-US" sz="1600" dirty="0"/>
          </a:p>
        </p:txBody>
      </p:sp>
      <p:pic>
        <p:nvPicPr>
          <p:cNvPr id="18" name="Image 0" descr="preencoded.png"/>
          <p:cNvPicPr>
            <a:picLocks noChangeAspect="1"/>
          </p:cNvPicPr>
          <p:nvPr/>
        </p:nvPicPr>
        <p:blipFill>
          <a:blip r:embed="rId3"/>
          <a:stretch>
            <a:fillRect/>
          </a:stretch>
        </p:blipFill>
        <p:spPr>
          <a:xfrm>
            <a:off x="558786" y="3587849"/>
            <a:ext cx="444489" cy="444500"/>
          </a:xfrm>
          <a:prstGeom prst="rect">
            <a:avLst/>
          </a:prstGeom>
        </p:spPr>
      </p:pic>
      <p:sp>
        <p:nvSpPr>
          <p:cNvPr id="19" name="Text 16"/>
          <p:cNvSpPr/>
          <p:nvPr/>
        </p:nvSpPr>
        <p:spPr>
          <a:xfrm>
            <a:off x="558786" y="4133949"/>
            <a:ext cx="3361150" cy="243780"/>
          </a:xfrm>
          <a:prstGeom prst="rect">
            <a:avLst/>
          </a:prstGeom>
          <a:noFill/>
          <a:ln/>
        </p:spPr>
        <p:txBody>
          <a:bodyPr wrap="none" lIns="0" tIns="0" rIns="0" bIns="0" rtlCol="0" anchor="t"/>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Verified Worker Registry</a:t>
            </a:r>
            <a:endParaRPr lang="en-US" sz="1600" dirty="0"/>
          </a:p>
        </p:txBody>
      </p:sp>
      <p:pic>
        <p:nvPicPr>
          <p:cNvPr id="20" name="Image 1" descr="preencoded.png"/>
          <p:cNvPicPr>
            <a:picLocks noChangeAspect="1"/>
          </p:cNvPicPr>
          <p:nvPr/>
        </p:nvPicPr>
        <p:blipFill>
          <a:blip r:embed="rId4"/>
          <a:stretch>
            <a:fillRect/>
          </a:stretch>
        </p:blipFill>
        <p:spPr>
          <a:xfrm>
            <a:off x="4377124" y="3587849"/>
            <a:ext cx="444489" cy="444500"/>
          </a:xfrm>
          <a:prstGeom prst="rect">
            <a:avLst/>
          </a:prstGeom>
        </p:spPr>
      </p:pic>
      <p:sp>
        <p:nvSpPr>
          <p:cNvPr id="21" name="Text 17"/>
          <p:cNvSpPr/>
          <p:nvPr/>
        </p:nvSpPr>
        <p:spPr>
          <a:xfrm>
            <a:off x="4377124" y="4133949"/>
            <a:ext cx="3361150" cy="243780"/>
          </a:xfrm>
          <a:prstGeom prst="rect">
            <a:avLst/>
          </a:prstGeom>
          <a:noFill/>
          <a:ln/>
        </p:spPr>
        <p:txBody>
          <a:bodyPr wrap="none" lIns="0" tIns="0" rIns="0" bIns="0" rtlCol="0" anchor="t"/>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Intelligent Service Matching</a:t>
            </a:r>
            <a:endParaRPr lang="en-US" sz="1600" dirty="0"/>
          </a:p>
        </p:txBody>
      </p:sp>
      <p:pic>
        <p:nvPicPr>
          <p:cNvPr id="22" name="Image 2" descr="preencoded.png"/>
          <p:cNvPicPr>
            <a:picLocks noChangeAspect="1"/>
          </p:cNvPicPr>
          <p:nvPr/>
        </p:nvPicPr>
        <p:blipFill>
          <a:blip r:embed="rId5"/>
          <a:stretch>
            <a:fillRect/>
          </a:stretch>
        </p:blipFill>
        <p:spPr>
          <a:xfrm>
            <a:off x="558786" y="4834930"/>
            <a:ext cx="444489" cy="444500"/>
          </a:xfrm>
          <a:prstGeom prst="rect">
            <a:avLst/>
          </a:prstGeom>
        </p:spPr>
      </p:pic>
      <p:sp>
        <p:nvSpPr>
          <p:cNvPr id="23" name="Text 18"/>
          <p:cNvSpPr/>
          <p:nvPr/>
        </p:nvSpPr>
        <p:spPr>
          <a:xfrm>
            <a:off x="558786" y="5381030"/>
            <a:ext cx="3361150" cy="243780"/>
          </a:xfrm>
          <a:prstGeom prst="rect">
            <a:avLst/>
          </a:prstGeom>
          <a:noFill/>
          <a:ln/>
        </p:spPr>
        <p:txBody>
          <a:bodyPr wrap="none" lIns="0" tIns="0" rIns="0" bIns="0" rtlCol="0" anchor="t"/>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Booking, Payment &amp; Feedback</a:t>
            </a:r>
            <a:endParaRPr lang="en-US" sz="1600" dirty="0"/>
          </a:p>
        </p:txBody>
      </p:sp>
      <p:pic>
        <p:nvPicPr>
          <p:cNvPr id="24" name="Image 3" descr="preencoded.png"/>
          <p:cNvPicPr>
            <a:picLocks noChangeAspect="1"/>
          </p:cNvPicPr>
          <p:nvPr/>
        </p:nvPicPr>
        <p:blipFill>
          <a:blip r:embed="rId6"/>
          <a:stretch>
            <a:fillRect/>
          </a:stretch>
        </p:blipFill>
        <p:spPr>
          <a:xfrm>
            <a:off x="4377124" y="4834930"/>
            <a:ext cx="444489" cy="444500"/>
          </a:xfrm>
          <a:prstGeom prst="rect">
            <a:avLst/>
          </a:prstGeom>
        </p:spPr>
      </p:pic>
      <p:sp>
        <p:nvSpPr>
          <p:cNvPr id="25" name="Text 19"/>
          <p:cNvSpPr/>
          <p:nvPr/>
        </p:nvSpPr>
        <p:spPr>
          <a:xfrm>
            <a:off x="4377124" y="5381030"/>
            <a:ext cx="3361150"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72A46"/>
                </a:solidFill>
                <a:latin typeface="Galdeano" pitchFamily="34" charset="0"/>
                <a:ea typeface="Galdeano" pitchFamily="34" charset="-122"/>
                <a:cs typeface="Galdeano" pitchFamily="34" charset="-120"/>
              </a:rPr>
              <a:t>Cooperative Administration + Worker Welfare</a:t>
            </a:r>
            <a:endParaRPr lang="en-US" sz="1600" dirty="0"/>
          </a:p>
        </p:txBody>
      </p:sp>
      <p:sp>
        <p:nvSpPr>
          <p:cNvPr id="26" name="Shape 20"/>
          <p:cNvSpPr/>
          <p:nvPr/>
        </p:nvSpPr>
        <p:spPr>
          <a:xfrm>
            <a:off x="8043066" y="3587849"/>
            <a:ext cx="3589843" cy="2683371"/>
          </a:xfrm>
          <a:prstGeom prst="rect">
            <a:avLst/>
          </a:prstGeom>
          <a:solidFill>
            <a:srgbClr val="EAF1F8"/>
          </a:solidFill>
          <a:ln/>
        </p:spPr>
      </p:sp>
      <p:sp>
        <p:nvSpPr>
          <p:cNvPr id="27" name="Text 21"/>
          <p:cNvSpPr/>
          <p:nvPr/>
        </p:nvSpPr>
        <p:spPr>
          <a:xfrm>
            <a:off x="8271660" y="3816449"/>
            <a:ext cx="3361249"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172A46"/>
                </a:solidFill>
                <a:latin typeface="Galdeano" pitchFamily="34" charset="0"/>
                <a:ea typeface="Galdeano" pitchFamily="34" charset="-122"/>
                <a:cs typeface="Galdeano" pitchFamily="34" charset="-120"/>
              </a:rPr>
              <a:t>EVIDENCE</a:t>
            </a:r>
            <a:endParaRPr lang="en-US" sz="1100" dirty="0"/>
          </a:p>
        </p:txBody>
      </p:sp>
      <p:sp>
        <p:nvSpPr>
          <p:cNvPr id="28" name="Text 22"/>
          <p:cNvSpPr/>
          <p:nvPr/>
        </p:nvSpPr>
        <p:spPr>
          <a:xfrm>
            <a:off x="8271660" y="4117380"/>
            <a:ext cx="3132654" cy="1226344"/>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72A46"/>
                </a:solidFill>
                <a:latin typeface="Arial" pitchFamily="34" charset="0"/>
                <a:ea typeface="Arial" pitchFamily="34" charset="-122"/>
                <a:cs typeface="Arial" pitchFamily="34" charset="-120"/>
              </a:rPr>
              <a:t>India’s National Cooperative Database lists </a:t>
            </a:r>
            <a:r>
              <a:rPr lang="en-US" sz="1400" b="1" dirty="0">
                <a:solidFill>
                  <a:srgbClr val="172A46"/>
                </a:solidFill>
                <a:latin typeface="Arial Bold" pitchFamily="34" charset="0"/>
                <a:ea typeface="Arial Bold" pitchFamily="34" charset="-122"/>
                <a:cs typeface="Arial Bold" pitchFamily="34" charset="-120"/>
              </a:rPr>
              <a:t>44,859 Labour Cooperatives</a:t>
            </a:r>
            <a:r>
              <a:rPr lang="en-US" sz="1400" dirty="0">
                <a:solidFill>
                  <a:srgbClr val="172A46"/>
                </a:solidFill>
                <a:latin typeface="Arial" pitchFamily="34" charset="0"/>
                <a:ea typeface="Arial" pitchFamily="34" charset="-122"/>
                <a:cs typeface="Arial" pitchFamily="34" charset="-120"/>
              </a:rPr>
              <a:t>. This does not imply universal adoption or platform participation.</a:t>
            </a:r>
            <a:endParaRPr lang="en-US" sz="1400" dirty="0"/>
          </a:p>
        </p:txBody>
      </p:sp>
      <p:sp>
        <p:nvSpPr>
          <p:cNvPr id="29" name="Text 23"/>
          <p:cNvSpPr/>
          <p:nvPr/>
        </p:nvSpPr>
        <p:spPr>
          <a:xfrm>
            <a:off x="8271660" y="5477073"/>
            <a:ext cx="3132654" cy="565547"/>
          </a:xfrm>
          <a:prstGeom prst="rect">
            <a:avLst/>
          </a:prstGeom>
          <a:noFill/>
          <a:ln/>
        </p:spPr>
        <p:txBody>
          <a:bodyPr wrap="square" lIns="0" tIns="0" rIns="0" bIns="0" rtlCol="0" anchor="t">
            <a:normAutofit/>
          </a:bodyPr>
          <a:lstStyle/>
          <a:p>
            <a:pPr marL="0" indent="0" algn="l">
              <a:lnSpc>
                <a:spcPct val="112000"/>
              </a:lnSpc>
              <a:buNone/>
            </a:pPr>
            <a:r>
              <a:rPr lang="en-US" sz="1100" dirty="0">
                <a:solidFill>
                  <a:srgbClr val="172A46"/>
                </a:solidFill>
                <a:latin typeface="Galdeano" pitchFamily="34" charset="0"/>
                <a:ea typeface="Galdeano" pitchFamily="34" charset="-122"/>
                <a:cs typeface="Galdeano" pitchFamily="34" charset="-120"/>
              </a:rPr>
              <a:t>Source: Ministry of Cooperation, Government of India — National Cooperative Database / Ministry website, accessed 2026.</a:t>
            </a:r>
            <a:endParaRPr lang="en-US" sz="1100" dirty="0"/>
          </a:p>
        </p:txBody>
      </p:sp>
      <p:sp>
        <p:nvSpPr>
          <p:cNvPr id="30" name="Shape 24"/>
          <p:cNvSpPr/>
          <p:nvPr/>
        </p:nvSpPr>
        <p:spPr>
          <a:xfrm>
            <a:off x="2213515" y="1926927"/>
            <a:ext cx="12700" cy="1457722"/>
          </a:xfrm>
          <a:prstGeom prst="rect">
            <a:avLst/>
          </a:prstGeom>
          <a:solidFill>
            <a:srgbClr val="B8C7D9"/>
          </a:solidFill>
          <a:ln/>
        </p:spPr>
      </p:sp>
      <p:sp>
        <p:nvSpPr>
          <p:cNvPr id="31" name="Shape 25"/>
          <p:cNvSpPr/>
          <p:nvPr/>
        </p:nvSpPr>
        <p:spPr>
          <a:xfrm>
            <a:off x="3874594" y="1926927"/>
            <a:ext cx="12700" cy="1457722"/>
          </a:xfrm>
          <a:prstGeom prst="rect">
            <a:avLst/>
          </a:prstGeom>
          <a:solidFill>
            <a:srgbClr val="B8C7D9"/>
          </a:solidFill>
          <a:ln/>
        </p:spPr>
      </p:sp>
      <p:sp>
        <p:nvSpPr>
          <p:cNvPr id="32" name="Shape 26"/>
          <p:cNvSpPr/>
          <p:nvPr/>
        </p:nvSpPr>
        <p:spPr>
          <a:xfrm>
            <a:off x="5535772" y="1926927"/>
            <a:ext cx="12700" cy="1457722"/>
          </a:xfrm>
          <a:prstGeom prst="rect">
            <a:avLst/>
          </a:prstGeom>
          <a:solidFill>
            <a:srgbClr val="B8C7D9"/>
          </a:solidFill>
          <a:ln/>
        </p:spPr>
      </p:sp>
      <p:sp>
        <p:nvSpPr>
          <p:cNvPr id="33" name="Shape 27"/>
          <p:cNvSpPr/>
          <p:nvPr/>
        </p:nvSpPr>
        <p:spPr>
          <a:xfrm>
            <a:off x="7196850" y="1926927"/>
            <a:ext cx="12700" cy="1457722"/>
          </a:xfrm>
          <a:prstGeom prst="rect">
            <a:avLst/>
          </a:prstGeom>
          <a:solidFill>
            <a:srgbClr val="B8C7D9"/>
          </a:solidFill>
          <a:ln/>
        </p:spPr>
      </p:sp>
      <p:sp>
        <p:nvSpPr>
          <p:cNvPr id="34" name="Shape 28"/>
          <p:cNvSpPr/>
          <p:nvPr/>
        </p:nvSpPr>
        <p:spPr>
          <a:xfrm>
            <a:off x="8673387" y="1926927"/>
            <a:ext cx="12700" cy="1457722"/>
          </a:xfrm>
          <a:prstGeom prst="rect">
            <a:avLst/>
          </a:prstGeom>
          <a:solidFill>
            <a:srgbClr val="B8C7D9"/>
          </a:solidFill>
          <a:ln/>
        </p:spPr>
      </p:sp>
      <p:sp>
        <p:nvSpPr>
          <p:cNvPr id="35" name="Shape 29"/>
          <p:cNvSpPr/>
          <p:nvPr/>
        </p:nvSpPr>
        <p:spPr>
          <a:xfrm>
            <a:off x="10149923" y="1926927"/>
            <a:ext cx="12700" cy="1457722"/>
          </a:xfrm>
          <a:prstGeom prst="rect">
            <a:avLst/>
          </a:prstGeom>
          <a:solidFill>
            <a:srgbClr val="B8C7D9"/>
          </a:solidFill>
          <a:ln/>
        </p:spPr>
      </p:sp>
      <p:sp>
        <p:nvSpPr>
          <p:cNvPr id="36" name="Shape 30"/>
          <p:cNvSpPr/>
          <p:nvPr/>
        </p:nvSpPr>
        <p:spPr>
          <a:xfrm>
            <a:off x="4142180" y="3587849"/>
            <a:ext cx="12700" cy="1018480"/>
          </a:xfrm>
          <a:prstGeom prst="rect">
            <a:avLst/>
          </a:prstGeom>
          <a:solidFill>
            <a:srgbClr val="7EA6D8"/>
          </a:solidFill>
          <a:ln/>
        </p:spPr>
      </p:sp>
      <p:sp>
        <p:nvSpPr>
          <p:cNvPr id="37" name="Shape 31"/>
          <p:cNvSpPr/>
          <p:nvPr/>
        </p:nvSpPr>
        <p:spPr>
          <a:xfrm>
            <a:off x="558786" y="4599980"/>
            <a:ext cx="3589744" cy="12700"/>
          </a:xfrm>
          <a:prstGeom prst="rect">
            <a:avLst/>
          </a:prstGeom>
          <a:solidFill>
            <a:srgbClr val="7EA6D8"/>
          </a:solidFill>
          <a:ln/>
        </p:spPr>
      </p:sp>
      <p:sp>
        <p:nvSpPr>
          <p:cNvPr id="38" name="Shape 32"/>
          <p:cNvSpPr/>
          <p:nvPr/>
        </p:nvSpPr>
        <p:spPr>
          <a:xfrm>
            <a:off x="4142180" y="4606330"/>
            <a:ext cx="12700" cy="1262261"/>
          </a:xfrm>
          <a:prstGeom prst="rect">
            <a:avLst/>
          </a:prstGeom>
          <a:solidFill>
            <a:srgbClr val="7EA6D8"/>
          </a:solidFill>
          <a:ln/>
        </p:spPr>
      </p:sp>
      <p:sp>
        <p:nvSpPr>
          <p:cNvPr id="39" name="Shape 33"/>
          <p:cNvSpPr/>
          <p:nvPr/>
        </p:nvSpPr>
        <p:spPr>
          <a:xfrm>
            <a:off x="4148530" y="4599980"/>
            <a:ext cx="3589744" cy="12700"/>
          </a:xfrm>
          <a:prstGeom prst="rect">
            <a:avLst/>
          </a:prstGeom>
          <a:solidFill>
            <a:srgbClr val="7EA6D8"/>
          </a:solidFill>
          <a:ln/>
        </p:spPr>
      </p:sp>
      <p:sp>
        <p:nvSpPr>
          <p:cNvPr id="40" name="Text 34"/>
          <p:cNvSpPr/>
          <p:nvPr/>
        </p:nvSpPr>
        <p:spPr>
          <a:xfrm>
            <a:off x="11558176" y="6569720"/>
            <a:ext cx="709198" cy="167580"/>
          </a:xfrm>
          <a:prstGeom prst="rect">
            <a:avLst/>
          </a:prstGeom>
          <a:noFill/>
          <a:ln/>
        </p:spPr>
        <p:txBody>
          <a:bodyPr wrap="none" lIns="0" tIns="0" rIns="0" bIns="0" rtlCol="0" anchor="ctr"/>
          <a:lstStyle/>
          <a:p>
            <a:pPr marL="0" indent="0" algn="l">
              <a:lnSpc>
                <a:spcPct val="115000"/>
              </a:lnSpc>
              <a:buNone/>
            </a:pPr>
            <a:r>
              <a:rPr lang="en-US" sz="1000" kern="0" spc="20" dirty="0">
                <a:solidFill>
                  <a:srgbClr val="536579"/>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EA3DB82-C283-4D3A-AE56-DAEDF1CDEB3E}"/>
              </a:ext>
            </a:extLst>
          </p:cNvPr>
          <p:cNvSpPr/>
          <p:nvPr/>
        </p:nvSpPr>
        <p:spPr>
          <a:xfrm>
            <a:off x="10983489" y="6499820"/>
            <a:ext cx="1208206" cy="358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558786" y="558800"/>
            <a:ext cx="11632909"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536579"/>
                </a:solidFill>
                <a:latin typeface="Galdeano" pitchFamily="34" charset="0"/>
                <a:ea typeface="Galdeano" pitchFamily="34" charset="-122"/>
                <a:cs typeface="Galdeano" pitchFamily="34" charset="-120"/>
              </a:rPr>
              <a:t>02 · TECHNICAL DESIGN</a:t>
            </a:r>
            <a:endParaRPr lang="en-US" sz="1100" dirty="0"/>
          </a:p>
        </p:txBody>
      </p:sp>
      <p:sp>
        <p:nvSpPr>
          <p:cNvPr id="3" name="Text 1"/>
          <p:cNvSpPr/>
          <p:nvPr/>
        </p:nvSpPr>
        <p:spPr>
          <a:xfrm>
            <a:off x="558786" y="848221"/>
            <a:ext cx="11074123" cy="853281"/>
          </a:xfrm>
          <a:prstGeom prst="rect">
            <a:avLst/>
          </a:prstGeom>
          <a:noFill/>
          <a:ln/>
        </p:spPr>
        <p:txBody>
          <a:bodyPr wrap="square" lIns="0" tIns="0" rIns="0" bIns="0" rtlCol="0" anchor="t">
            <a:normAutofit/>
          </a:bodyPr>
          <a:lstStyle/>
          <a:p>
            <a:pPr marL="0" indent="0" algn="l">
              <a:lnSpc>
                <a:spcPct val="93000"/>
              </a:lnSpc>
              <a:buNone/>
            </a:pPr>
            <a:r>
              <a:rPr lang="en-US" sz="3000" b="1" kern="0" spc="-45" dirty="0">
                <a:solidFill>
                  <a:srgbClr val="172A46"/>
                </a:solidFill>
                <a:latin typeface="Arial Bold" pitchFamily="34" charset="0"/>
                <a:ea typeface="Arial Bold" pitchFamily="34" charset="-122"/>
                <a:cs typeface="Arial Bold" pitchFamily="34" charset="-120"/>
              </a:rPr>
              <a:t>THE PROTOTYPE SEPARATES CORE PLATFORM SERVICES FROM POTENTIAL INTEGRATIONS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58786" y="1926927"/>
          <a:ext cx="11074124" cy="2229390"/>
        </p:xfrm>
        <a:graphic>
          <a:graphicData uri="http://schemas.openxmlformats.org/drawingml/2006/table">
            <a:tbl>
              <a:tblPr/>
              <a:tblGrid>
                <a:gridCol w="2214825">
                  <a:extLst>
                    <a:ext uri="{9D8B030D-6E8A-4147-A177-3AD203B41FA5}">
                      <a16:colId xmlns:a16="http://schemas.microsoft.com/office/drawing/2014/main" val="20000"/>
                    </a:ext>
                  </a:extLst>
                </a:gridCol>
                <a:gridCol w="8859299">
                  <a:extLst>
                    <a:ext uri="{9D8B030D-6E8A-4147-A177-3AD203B41FA5}">
                      <a16:colId xmlns:a16="http://schemas.microsoft.com/office/drawing/2014/main" val="20001"/>
                    </a:ext>
                  </a:extLst>
                </a:gridCol>
              </a:tblGrid>
              <a:tr h="467011">
                <a:tc>
                  <a:txBody>
                    <a:bodyPr/>
                    <a:lstStyle/>
                    <a:p>
                      <a:pPr marL="0" indent="0">
                        <a:buNone/>
                      </a:pPr>
                      <a:r>
                        <a:rPr lang="en-US" sz="1300" dirty="0">
                          <a:solidFill>
                            <a:srgbClr val="536579"/>
                          </a:solidFill>
                          <a:latin typeface="Arial" pitchFamily="34" charset="0"/>
                          <a:ea typeface="Arial" pitchFamily="34" charset="-122"/>
                          <a:cs typeface="Arial" pitchFamily="34" charset="-120"/>
                        </a:rPr>
                        <a:t>Client layer</a:t>
                      </a:r>
                      <a:endParaRPr lang="en-US" sz="1300" dirty="0">
                        <a:latin typeface="Arial" charset="0"/>
                        <a:ea typeface="Arial" charset="0"/>
                        <a:cs typeface="Arial"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EAF1F8"/>
                      </a:solidFill>
                      <a:prstDash val="solid"/>
                      <a:round/>
                      <a:headEnd type="none" w="med" len="med"/>
                      <a:tailEnd type="none" w="med" len="med"/>
                    </a:lnT>
                    <a:lnB w="12700" cap="flat" cmpd="sng" algn="ctr">
                      <a:solidFill>
                        <a:srgbClr val="7EA6D8"/>
                      </a:solidFill>
                      <a:prstDash val="solid"/>
                      <a:round/>
                      <a:headEnd type="none" w="med" len="med"/>
                      <a:tailEnd type="none" w="med" len="med"/>
                    </a:lnB>
                    <a:solidFill>
                      <a:srgbClr val="EAF1F8"/>
                    </a:solidFill>
                  </a:tcPr>
                </a:tc>
                <a:tc>
                  <a:txBody>
                    <a:bodyPr/>
                    <a:lstStyle/>
                    <a:p>
                      <a:pPr marL="0" indent="0">
                        <a:buNone/>
                      </a:pPr>
                      <a:r>
                        <a:rPr lang="en-US" sz="850" kern="0" spc="83" dirty="0">
                          <a:solidFill>
                            <a:srgbClr val="172A46"/>
                          </a:solidFill>
                          <a:latin typeface="Arial" pitchFamily="34" charset="0"/>
                          <a:ea typeface="Arial" pitchFamily="34" charset="-122"/>
                          <a:cs typeface="Arial" pitchFamily="34" charset="-120"/>
                        </a:rPr>
                        <a:t>Customer Mobile AppWorker Mobile AppCooperative Admin Dashboard</a:t>
                      </a:r>
                      <a:endParaRPr lang="en-US" sz="1050" dirty="0">
                        <a:latin typeface="Galdeano" charset="0"/>
                        <a:ea typeface="Galdeano" charset="0"/>
                        <a:cs typeface="Galdeano"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0"/>
                  </a:ext>
                </a:extLst>
              </a:tr>
              <a:tr h="647684">
                <a:tc>
                  <a:txBody>
                    <a:bodyPr/>
                    <a:lstStyle/>
                    <a:p>
                      <a:pPr marL="0" indent="0">
                        <a:buNone/>
                      </a:pPr>
                      <a:r>
                        <a:rPr lang="en-US" sz="1300" dirty="0">
                          <a:solidFill>
                            <a:srgbClr val="536579"/>
                          </a:solidFill>
                          <a:latin typeface="Arial" pitchFamily="34" charset="0"/>
                          <a:ea typeface="Arial" pitchFamily="34" charset="-122"/>
                          <a:cs typeface="Arial" pitchFamily="34" charset="-120"/>
                        </a:rPr>
                        <a:t>API and backend</a:t>
                      </a:r>
                      <a:endParaRPr lang="en-US" sz="1300" dirty="0">
                        <a:latin typeface="Arial" charset="0"/>
                        <a:ea typeface="Arial" charset="0"/>
                        <a:cs typeface="Arial"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solidFill>
                      <a:srgbClr val="EAF1F8"/>
                    </a:solidFill>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User &amp; Identity · Worker Verification · Skill / Certification Profiles · Service Catalogue · Booking &amp; Scheduling · Geo-Spatial Matching · Payment &amp; Invoice Management · Rating / Feedback · Worker Welfare · Notifications</a:t>
                      </a:r>
                      <a:endParaRPr lang="en-US" sz="1250" dirty="0">
                        <a:latin typeface="Arial" charset="0"/>
                        <a:ea typeface="Arial" charset="0"/>
                        <a:cs typeface="Arial"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1"/>
                  </a:ext>
                </a:extLst>
              </a:tr>
              <a:tr h="467011">
                <a:tc>
                  <a:txBody>
                    <a:bodyPr/>
                    <a:lstStyle/>
                    <a:p>
                      <a:pPr marL="0" indent="0">
                        <a:buNone/>
                      </a:pPr>
                      <a:r>
                        <a:rPr lang="en-US" sz="1300" dirty="0">
                          <a:solidFill>
                            <a:srgbClr val="536579"/>
                          </a:solidFill>
                          <a:latin typeface="Arial" pitchFamily="34" charset="0"/>
                          <a:ea typeface="Arial" pitchFamily="34" charset="-122"/>
                          <a:cs typeface="Arial" pitchFamily="34" charset="-120"/>
                        </a:rPr>
                        <a:t>Intelligence layer</a:t>
                      </a:r>
                      <a:endParaRPr lang="en-US" sz="1300" dirty="0">
                        <a:latin typeface="Arial" charset="0"/>
                        <a:ea typeface="Arial" charset="0"/>
                        <a:cs typeface="Arial"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solidFill>
                      <a:srgbClr val="EAF1F8"/>
                    </a:solidFill>
                  </a:tcPr>
                </a:tc>
                <a:tc>
                  <a:txBody>
                    <a:bodyPr/>
                    <a:lstStyle/>
                    <a:p>
                      <a:pPr marL="0" indent="0">
                        <a:buNone/>
                      </a:pPr>
                      <a:r>
                        <a:rPr lang="en-US" sz="850" kern="0" spc="83" dirty="0">
                          <a:solidFill>
                            <a:srgbClr val="172A46"/>
                          </a:solidFill>
                          <a:latin typeface="Arial" pitchFamily="34" charset="0"/>
                          <a:ea typeface="Arial" pitchFamily="34" charset="-122"/>
                          <a:cs typeface="Arial" pitchFamily="34" charset="-120"/>
                        </a:rPr>
                        <a:t>AI Demand ForecastingWorkforce AllocationService Demand Analytics</a:t>
                      </a:r>
                      <a:endParaRPr lang="en-US" sz="1050" dirty="0">
                        <a:latin typeface="Galdeano" charset="0"/>
                        <a:ea typeface="Galdeano" charset="0"/>
                        <a:cs typeface="Galdeano"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2"/>
                  </a:ext>
                </a:extLst>
              </a:tr>
              <a:tr h="647684">
                <a:tc>
                  <a:txBody>
                    <a:bodyPr/>
                    <a:lstStyle/>
                    <a:p>
                      <a:pPr marL="0" indent="0">
                        <a:buNone/>
                      </a:pPr>
                      <a:r>
                        <a:rPr lang="en-US" sz="1300" dirty="0">
                          <a:solidFill>
                            <a:srgbClr val="536579"/>
                          </a:solidFill>
                          <a:latin typeface="Arial" pitchFamily="34" charset="0"/>
                          <a:ea typeface="Arial" pitchFamily="34" charset="-122"/>
                          <a:cs typeface="Arial" pitchFamily="34" charset="-120"/>
                        </a:rPr>
                        <a:t>Data</a:t>
                      </a:r>
                      <a:endParaRPr lang="en-US" sz="1300" dirty="0">
                        <a:latin typeface="Arial" charset="0"/>
                        <a:ea typeface="Arial" charset="0"/>
                        <a:cs typeface="Arial"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EAF1F8"/>
                      </a:solidFill>
                      <a:prstDash val="solid"/>
                      <a:round/>
                      <a:headEnd type="none" w="med" len="med"/>
                      <a:tailEnd type="none" w="med" len="med"/>
                    </a:lnB>
                    <a:solidFill>
                      <a:srgbClr val="EAF1F8"/>
                    </a:solidFill>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PostgreSQL / relational database covering worker profiles, skills, availability, bookings, transactions, ratings and demand history.</a:t>
                      </a:r>
                      <a:endParaRPr lang="en-US" sz="1250" dirty="0">
                        <a:latin typeface="Arial" charset="0"/>
                        <a:ea typeface="Arial" charset="0"/>
                        <a:cs typeface="Arial" charset="0"/>
                      </a:endParaRPr>
                    </a:p>
                  </a:txBody>
                  <a:tcPr marL="101598" marR="152396" marT="101598" marB="101598" anchor="ctr">
                    <a:lnL w="12700" cap="flat" cmpd="sng" algn="ctr">
                      <a:solidFill>
                        <a:srgbClr val="EAF1F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58786" y="4359573"/>
            <a:ext cx="5384665" cy="1706662"/>
          </a:xfrm>
          <a:prstGeom prst="rect">
            <a:avLst/>
          </a:prstGeom>
          <a:solidFill>
            <a:srgbClr val="EAF1F8"/>
          </a:solidFill>
          <a:ln/>
        </p:spPr>
      </p:sp>
      <p:sp>
        <p:nvSpPr>
          <p:cNvPr id="6" name="Text 3"/>
          <p:cNvSpPr/>
          <p:nvPr/>
        </p:nvSpPr>
        <p:spPr>
          <a:xfrm>
            <a:off x="787380" y="4588173"/>
            <a:ext cx="5156071"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172A46"/>
                </a:solidFill>
                <a:latin typeface="Galdeano" pitchFamily="34" charset="0"/>
                <a:ea typeface="Galdeano" pitchFamily="34" charset="-122"/>
                <a:cs typeface="Galdeano" pitchFamily="34" charset="-120"/>
              </a:rPr>
              <a:t>PROTOTYPE STACK</a:t>
            </a:r>
            <a:endParaRPr lang="en-US" sz="1100" dirty="0"/>
          </a:p>
        </p:txBody>
      </p:sp>
      <p:sp>
        <p:nvSpPr>
          <p:cNvPr id="7" name="Text 4"/>
          <p:cNvSpPr/>
          <p:nvPr/>
        </p:nvSpPr>
        <p:spPr>
          <a:xfrm>
            <a:off x="787380" y="4889103"/>
            <a:ext cx="4927477" cy="657225"/>
          </a:xfrm>
          <a:prstGeom prst="rect">
            <a:avLst/>
          </a:prstGeom>
          <a:noFill/>
          <a:ln/>
        </p:spPr>
        <p:txBody>
          <a:bodyPr wrap="square" lIns="0" tIns="0" rIns="0" bIns="0" rtlCol="0" anchor="t">
            <a:normAutofit/>
          </a:bodyPr>
          <a:lstStyle/>
          <a:p>
            <a:pPr marL="0" indent="0" algn="l">
              <a:lnSpc>
                <a:spcPct val="115000"/>
              </a:lnSpc>
              <a:buNone/>
            </a:pPr>
            <a:r>
              <a:rPr lang="en-US" sz="1250" dirty="0">
                <a:solidFill>
                  <a:srgbClr val="172A46"/>
                </a:solidFill>
                <a:latin typeface="Arial" pitchFamily="34" charset="0"/>
                <a:ea typeface="Arial" pitchFamily="34" charset="-122"/>
                <a:cs typeface="Arial" pitchFamily="34" charset="-120"/>
              </a:rPr>
              <a:t>Flutter · React · Python FastAPI · PostgreSQL · Python / Pandas / Scikit-learn · OpenStreetMap or suitable map service · Firebase Cloud Messaging · REST APIs · low-cost cloud deployment</a:t>
            </a:r>
            <a:endParaRPr lang="en-US" sz="1250" dirty="0"/>
          </a:p>
        </p:txBody>
      </p:sp>
      <p:sp>
        <p:nvSpPr>
          <p:cNvPr id="8" name="Shape 5"/>
          <p:cNvSpPr/>
          <p:nvPr/>
        </p:nvSpPr>
        <p:spPr>
          <a:xfrm>
            <a:off x="6248244" y="4359573"/>
            <a:ext cx="5384665" cy="1706662"/>
          </a:xfrm>
          <a:prstGeom prst="rect">
            <a:avLst/>
          </a:prstGeom>
          <a:solidFill>
            <a:srgbClr val="EAF1F8"/>
          </a:solidFill>
          <a:ln/>
        </p:spPr>
      </p:sp>
      <p:sp>
        <p:nvSpPr>
          <p:cNvPr id="9" name="Text 6"/>
          <p:cNvSpPr/>
          <p:nvPr/>
        </p:nvSpPr>
        <p:spPr>
          <a:xfrm>
            <a:off x="6476838" y="4588173"/>
            <a:ext cx="5156071"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172A46"/>
                </a:solidFill>
                <a:latin typeface="Galdeano" pitchFamily="34" charset="0"/>
                <a:ea typeface="Galdeano" pitchFamily="34" charset="-122"/>
                <a:cs typeface="Galdeano" pitchFamily="34" charset="-120"/>
              </a:rPr>
              <a:t>EXTERNAL SERVICES</a:t>
            </a:r>
            <a:endParaRPr lang="en-US" sz="1100" dirty="0"/>
          </a:p>
        </p:txBody>
      </p:sp>
      <p:sp>
        <p:nvSpPr>
          <p:cNvPr id="10" name="Text 7"/>
          <p:cNvSpPr/>
          <p:nvPr/>
        </p:nvSpPr>
        <p:spPr>
          <a:xfrm>
            <a:off x="6476838" y="4889103"/>
            <a:ext cx="4927477" cy="438150"/>
          </a:xfrm>
          <a:prstGeom prst="rect">
            <a:avLst/>
          </a:prstGeom>
          <a:noFill/>
          <a:ln/>
        </p:spPr>
        <p:txBody>
          <a:bodyPr wrap="square" lIns="0" tIns="0" rIns="0" bIns="0" rtlCol="0" anchor="t">
            <a:normAutofit/>
          </a:bodyPr>
          <a:lstStyle/>
          <a:p>
            <a:pPr marL="0" indent="0" algn="l">
              <a:lnSpc>
                <a:spcPct val="115000"/>
              </a:lnSpc>
              <a:buNone/>
            </a:pPr>
            <a:r>
              <a:rPr lang="en-US" sz="1250" dirty="0">
                <a:solidFill>
                  <a:srgbClr val="172A46"/>
                </a:solidFill>
                <a:latin typeface="Arial" pitchFamily="34" charset="0"/>
                <a:ea typeface="Arial" pitchFamily="34" charset="-122"/>
                <a:cs typeface="Arial" pitchFamily="34" charset="-120"/>
              </a:rPr>
              <a:t>Maps / geolocation · payment gateway / UPI · SMS / push notifications</a:t>
            </a:r>
            <a:endParaRPr lang="en-US" sz="1250" dirty="0"/>
          </a:p>
        </p:txBody>
      </p:sp>
      <p:sp>
        <p:nvSpPr>
          <p:cNvPr id="11" name="Text 8"/>
          <p:cNvSpPr/>
          <p:nvPr/>
        </p:nvSpPr>
        <p:spPr>
          <a:xfrm>
            <a:off x="6476838" y="5460603"/>
            <a:ext cx="4927477" cy="377031"/>
          </a:xfrm>
          <a:prstGeom prst="rect">
            <a:avLst/>
          </a:prstGeom>
          <a:noFill/>
          <a:ln/>
        </p:spPr>
        <p:txBody>
          <a:bodyPr wrap="square" lIns="0" tIns="0" rIns="0" bIns="0" rtlCol="0" anchor="t">
            <a:normAutofit/>
          </a:bodyPr>
          <a:lstStyle/>
          <a:p>
            <a:pPr marL="0" indent="0" algn="l">
              <a:lnSpc>
                <a:spcPct val="112000"/>
              </a:lnSpc>
              <a:buNone/>
            </a:pPr>
            <a:r>
              <a:rPr lang="en-US" sz="1100" b="1" dirty="0">
                <a:solidFill>
                  <a:srgbClr val="172A46"/>
                </a:solidFill>
                <a:latin typeface="Galdeano" pitchFamily="34" charset="0"/>
                <a:ea typeface="Galdeano" pitchFamily="34" charset="-122"/>
                <a:cs typeface="Galdeano" pitchFamily="34" charset="-120"/>
              </a:rPr>
              <a:t>Potential integration — subject to API availability and authorization:</a:t>
            </a:r>
            <a:r>
              <a:rPr lang="en-US" sz="1100" dirty="0">
                <a:solidFill>
                  <a:srgbClr val="172A46"/>
                </a:solidFill>
                <a:latin typeface="Galdeano" pitchFamily="34" charset="0"/>
                <a:ea typeface="Galdeano" pitchFamily="34" charset="-122"/>
                <a:cs typeface="Galdeano" pitchFamily="34" charset="-120"/>
              </a:rPr>
              <a:t> e-Shram and other government systems.</a:t>
            </a:r>
            <a:endParaRPr lang="en-US" sz="1100" dirty="0"/>
          </a:p>
        </p:txBody>
      </p:sp>
      <p:sp>
        <p:nvSpPr>
          <p:cNvPr id="12" name="Text 9"/>
          <p:cNvSpPr/>
          <p:nvPr/>
        </p:nvSpPr>
        <p:spPr>
          <a:xfrm>
            <a:off x="558786" y="6269434"/>
            <a:ext cx="7111822" cy="377031"/>
          </a:xfrm>
          <a:prstGeom prst="rect">
            <a:avLst/>
          </a:prstGeom>
          <a:noFill/>
          <a:ln/>
        </p:spPr>
        <p:txBody>
          <a:bodyPr wrap="square" lIns="0" tIns="0" rIns="0" bIns="0" rtlCol="0" anchor="t">
            <a:normAutofit/>
          </a:bodyPr>
          <a:lstStyle/>
          <a:p>
            <a:pPr marL="0" indent="0" algn="l">
              <a:lnSpc>
                <a:spcPct val="112000"/>
              </a:lnSpc>
              <a:buNone/>
            </a:pPr>
            <a:r>
              <a:rPr lang="en-US" sz="1100" b="1" dirty="0">
                <a:solidFill>
                  <a:srgbClr val="536579"/>
                </a:solidFill>
                <a:latin typeface="Galdeano" pitchFamily="34" charset="0"/>
                <a:ea typeface="Galdeano" pitchFamily="34" charset="-122"/>
                <a:cs typeface="Galdeano" pitchFamily="34" charset="-120"/>
              </a:rPr>
              <a:t>EVIDENCE —</a:t>
            </a:r>
            <a:r>
              <a:rPr lang="en-US" sz="1100" dirty="0">
                <a:solidFill>
                  <a:srgbClr val="536579"/>
                </a:solidFill>
                <a:latin typeface="Galdeano" pitchFamily="34" charset="0"/>
                <a:ea typeface="Galdeano" pitchFamily="34" charset="-122"/>
                <a:cs typeface="Galdeano" pitchFamily="34" charset="-120"/>
              </a:rPr>
              <a:t> ONDC officially documents a Skilled Services network for household and local services and an API-based open-network model.</a:t>
            </a:r>
            <a:endParaRPr lang="en-US" sz="1100" dirty="0"/>
          </a:p>
        </p:txBody>
      </p:sp>
      <p:sp>
        <p:nvSpPr>
          <p:cNvPr id="13" name="Text 10"/>
          <p:cNvSpPr/>
          <p:nvPr/>
        </p:nvSpPr>
        <p:spPr>
          <a:xfrm>
            <a:off x="11538644" y="6524411"/>
            <a:ext cx="709198" cy="175220"/>
          </a:xfrm>
          <a:prstGeom prst="rect">
            <a:avLst/>
          </a:prstGeom>
          <a:noFill/>
          <a:ln/>
        </p:spPr>
        <p:txBody>
          <a:bodyPr wrap="none" lIns="0" tIns="0" rIns="0" bIns="0" rtlCol="0" anchor="ctr"/>
          <a:lstStyle/>
          <a:p>
            <a:pPr marL="0" indent="0" algn="l">
              <a:lnSpc>
                <a:spcPct val="115000"/>
              </a:lnSpc>
              <a:buNone/>
            </a:pPr>
            <a:r>
              <a:rPr lang="en-US" sz="1000" kern="0" spc="20" dirty="0">
                <a:solidFill>
                  <a:srgbClr val="536579"/>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6D20E7-DFC0-40FB-9773-6E2A986E4477}"/>
              </a:ext>
            </a:extLst>
          </p:cNvPr>
          <p:cNvSpPr/>
          <p:nvPr/>
        </p:nvSpPr>
        <p:spPr>
          <a:xfrm>
            <a:off x="10983489" y="6507841"/>
            <a:ext cx="1208206" cy="358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558786" y="558800"/>
            <a:ext cx="11632909" cy="162719"/>
          </a:xfrm>
          <a:prstGeom prst="rect">
            <a:avLst/>
          </a:prstGeom>
          <a:noFill/>
          <a:ln/>
        </p:spPr>
        <p:txBody>
          <a:bodyPr wrap="none" lIns="0" tIns="0" rIns="0" bIns="0" rtlCol="0" anchor="t"/>
          <a:lstStyle/>
          <a:p>
            <a:pPr marL="0" indent="0" algn="l">
              <a:lnSpc>
                <a:spcPct val="100000"/>
              </a:lnSpc>
              <a:buNone/>
            </a:pPr>
            <a:r>
              <a:rPr lang="en-US" sz="1050" kern="0" spc="11" dirty="0">
                <a:solidFill>
                  <a:srgbClr val="536579"/>
                </a:solidFill>
                <a:latin typeface="Galdeano" pitchFamily="34" charset="0"/>
                <a:ea typeface="Galdeano" pitchFamily="34" charset="-122"/>
                <a:cs typeface="Galdeano" pitchFamily="34" charset="-120"/>
              </a:rPr>
              <a:t>03 · FEASIBILITY</a:t>
            </a:r>
            <a:endParaRPr lang="en-US" sz="1050" dirty="0"/>
          </a:p>
        </p:txBody>
      </p:sp>
      <p:sp>
        <p:nvSpPr>
          <p:cNvPr id="3" name="Text 1"/>
          <p:cNvSpPr/>
          <p:nvPr/>
        </p:nvSpPr>
        <p:spPr>
          <a:xfrm>
            <a:off x="558786" y="836513"/>
            <a:ext cx="11074123" cy="828675"/>
          </a:xfrm>
          <a:prstGeom prst="rect">
            <a:avLst/>
          </a:prstGeom>
          <a:noFill/>
          <a:ln/>
        </p:spPr>
        <p:txBody>
          <a:bodyPr wrap="square" lIns="0" tIns="0" rIns="0" bIns="0" rtlCol="0" anchor="t">
            <a:normAutofit/>
          </a:bodyPr>
          <a:lstStyle/>
          <a:p>
            <a:pPr marL="0" indent="0" algn="l">
              <a:lnSpc>
                <a:spcPct val="93000"/>
              </a:lnSpc>
              <a:buNone/>
            </a:pPr>
            <a:r>
              <a:rPr lang="en-US" sz="2900" b="1" kern="0" spc="-44" dirty="0">
                <a:solidFill>
                  <a:srgbClr val="172A46"/>
                </a:solidFill>
                <a:latin typeface="Arial Bold" pitchFamily="34" charset="0"/>
                <a:ea typeface="Arial Bold" pitchFamily="34" charset="-122"/>
                <a:cs typeface="Arial Bold" pitchFamily="34" charset="-120"/>
              </a:rPr>
              <a:t>AN MVP IS FEASIBLE NOW; SCALE-UP DEPENDS ON DATA, APPROVALS AND OPERATING VOLUME</a:t>
            </a:r>
            <a:endParaRPr lang="en-US" sz="2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58786" y="1877814"/>
          <a:ext cx="11074123" cy="3881739"/>
        </p:xfrm>
        <a:graphic>
          <a:graphicData uri="http://schemas.openxmlformats.org/drawingml/2006/table">
            <a:tbl>
              <a:tblPr/>
              <a:tblGrid>
                <a:gridCol w="2104083">
                  <a:extLst>
                    <a:ext uri="{9D8B030D-6E8A-4147-A177-3AD203B41FA5}">
                      <a16:colId xmlns:a16="http://schemas.microsoft.com/office/drawing/2014/main" val="20000"/>
                    </a:ext>
                  </a:extLst>
                </a:gridCol>
                <a:gridCol w="4318908">
                  <a:extLst>
                    <a:ext uri="{9D8B030D-6E8A-4147-A177-3AD203B41FA5}">
                      <a16:colId xmlns:a16="http://schemas.microsoft.com/office/drawing/2014/main" val="20001"/>
                    </a:ext>
                  </a:extLst>
                </a:gridCol>
                <a:gridCol w="4651132">
                  <a:extLst>
                    <a:ext uri="{9D8B030D-6E8A-4147-A177-3AD203B41FA5}">
                      <a16:colId xmlns:a16="http://schemas.microsoft.com/office/drawing/2014/main" val="20002"/>
                    </a:ext>
                  </a:extLst>
                </a:gridCol>
              </a:tblGrid>
              <a:tr h="292390">
                <a:tc>
                  <a:txBody>
                    <a:bodyPr/>
                    <a:lstStyle/>
                    <a:p>
                      <a:pPr marL="0" indent="0">
                        <a:buNone/>
                      </a:pPr>
                      <a:r>
                        <a:rPr lang="en-US" sz="1050" kern="0" spc="11" dirty="0">
                          <a:solidFill>
                            <a:srgbClr val="536579"/>
                          </a:solidFill>
                          <a:latin typeface="Arial" pitchFamily="34" charset="0"/>
                          <a:ea typeface="Arial" pitchFamily="34" charset="-122"/>
                          <a:cs typeface="Arial" pitchFamily="34" charset="-120"/>
                        </a:rPr>
                        <a:t>Challenge</a:t>
                      </a:r>
                      <a:endParaRPr lang="en-US" sz="1050" dirty="0">
                        <a:latin typeface="Arial" charset="0"/>
                        <a:ea typeface="Arial" charset="0"/>
                        <a:cs typeface="Arial" charset="0"/>
                      </a:endParaRPr>
                    </a:p>
                  </a:txBody>
                  <a:tcPr marL="101598" marR="152396" marT="50799" marB="50799"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EAF1F8"/>
                      </a:solidFill>
                      <a:prstDash val="solid"/>
                      <a:round/>
                      <a:headEnd type="none" w="med" len="med"/>
                      <a:tailEnd type="none" w="med" len="med"/>
                    </a:lnT>
                    <a:lnB w="12700" cap="flat" cmpd="sng" algn="ctr">
                      <a:solidFill>
                        <a:srgbClr val="7EA6D8"/>
                      </a:solidFill>
                      <a:prstDash val="solid"/>
                      <a:round/>
                      <a:headEnd type="none" w="med" len="med"/>
                      <a:tailEnd type="none" w="med" len="med"/>
                    </a:lnB>
                    <a:solidFill>
                      <a:srgbClr val="EAF1F8"/>
                    </a:solidFill>
                  </a:tcPr>
                </a:tc>
                <a:tc>
                  <a:txBody>
                    <a:bodyPr/>
                    <a:lstStyle/>
                    <a:p>
                      <a:pPr marL="0" indent="0">
                        <a:buNone/>
                      </a:pPr>
                      <a:r>
                        <a:rPr lang="en-US" sz="1050" kern="0" spc="11" dirty="0">
                          <a:solidFill>
                            <a:srgbClr val="536579"/>
                          </a:solidFill>
                          <a:latin typeface="Arial" pitchFamily="34" charset="0"/>
                          <a:ea typeface="Arial" pitchFamily="34" charset="-122"/>
                          <a:cs typeface="Arial" pitchFamily="34" charset="-120"/>
                        </a:rPr>
                        <a:t>Prototype solution (MVP)</a:t>
                      </a:r>
                      <a:endParaRPr lang="en-US" sz="1050" dirty="0">
                        <a:latin typeface="Arial" charset="0"/>
                        <a:ea typeface="Arial" charset="0"/>
                        <a:cs typeface="Arial" charset="0"/>
                      </a:endParaRPr>
                    </a:p>
                  </a:txBody>
                  <a:tcPr marL="101598" marR="152396" marT="50799" marB="50799"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EAF1F8"/>
                      </a:solidFill>
                      <a:prstDash val="solid"/>
                      <a:round/>
                      <a:headEnd type="none" w="med" len="med"/>
                      <a:tailEnd type="none" w="med" len="med"/>
                    </a:lnT>
                    <a:lnB w="12700" cap="flat" cmpd="sng" algn="ctr">
                      <a:solidFill>
                        <a:srgbClr val="7EA6D8"/>
                      </a:solidFill>
                      <a:prstDash val="solid"/>
                      <a:round/>
                      <a:headEnd type="none" w="med" len="med"/>
                      <a:tailEnd type="none" w="med" len="med"/>
                    </a:lnB>
                    <a:solidFill>
                      <a:srgbClr val="EAF1F8"/>
                    </a:solidFill>
                  </a:tcPr>
                </a:tc>
                <a:tc>
                  <a:txBody>
                    <a:bodyPr/>
                    <a:lstStyle/>
                    <a:p>
                      <a:pPr marL="0" indent="0">
                        <a:buNone/>
                      </a:pPr>
                      <a:r>
                        <a:rPr lang="en-US" sz="1050" kern="0" spc="11" dirty="0">
                          <a:solidFill>
                            <a:srgbClr val="536579"/>
                          </a:solidFill>
                          <a:latin typeface="Arial" pitchFamily="34" charset="0"/>
                          <a:ea typeface="Arial" pitchFamily="34" charset="-122"/>
                          <a:cs typeface="Arial" pitchFamily="34" charset="-120"/>
                        </a:rPr>
                        <a:t>Scale-up path</a:t>
                      </a:r>
                      <a:endParaRPr lang="en-US" sz="1050" dirty="0">
                        <a:latin typeface="Arial" charset="0"/>
                        <a:ea typeface="Arial" charset="0"/>
                        <a:cs typeface="Arial" charset="0"/>
                      </a:endParaRPr>
                    </a:p>
                  </a:txBody>
                  <a:tcPr marL="101598" marR="152396" marT="50799" marB="50799" anchor="ctr">
                    <a:lnL w="12700" cap="flat" cmpd="sng" algn="ctr">
                      <a:solidFill>
                        <a:srgbClr val="EAF1F8"/>
                      </a:solidFill>
                      <a:prstDash val="solid"/>
                      <a:round/>
                      <a:headEnd type="none" w="med" len="med"/>
                      <a:tailEnd type="none" w="med" len="med"/>
                    </a:lnL>
                    <a:lnR w="12700" cap="flat" cmpd="sng" algn="ctr">
                      <a:solidFill>
                        <a:srgbClr val="EAF1F8"/>
                      </a:solidFill>
                      <a:prstDash val="solid"/>
                      <a:round/>
                      <a:headEnd type="none" w="med" len="med"/>
                      <a:tailEnd type="none" w="med" len="med"/>
                    </a:lnR>
                    <a:lnT w="12700" cap="flat" cmpd="sng" algn="ctr">
                      <a:solidFill>
                        <a:srgbClr val="EAF1F8"/>
                      </a:solidFill>
                      <a:prstDash val="solid"/>
                      <a:round/>
                      <a:headEnd type="none" w="med" len="med"/>
                      <a:tailEnd type="none" w="med" len="med"/>
                    </a:lnT>
                    <a:lnB w="12700" cap="flat" cmpd="sng" algn="ctr">
                      <a:solidFill>
                        <a:srgbClr val="7EA6D8"/>
                      </a:solidFill>
                      <a:prstDash val="solid"/>
                      <a:round/>
                      <a:headEnd type="none" w="med" len="med"/>
                      <a:tailEnd type="none" w="med" len="med"/>
                    </a:lnB>
                    <a:solidFill>
                      <a:srgbClr val="EAF1F8"/>
                    </a:solidFill>
                  </a:tcPr>
                </a:tc>
                <a:extLst>
                  <a:ext uri="{0D108BD9-81ED-4DB2-BD59-A6C34878D82A}">
                    <a16:rowId xmlns:a16="http://schemas.microsoft.com/office/drawing/2014/main" val="10000"/>
                  </a:ext>
                </a:extLst>
              </a:tr>
              <a:tr h="543904">
                <a:tc>
                  <a:txBody>
                    <a:bodyPr/>
                    <a:lstStyle/>
                    <a:p>
                      <a:pPr marL="0" indent="0">
                        <a:buNone/>
                      </a:pPr>
                      <a:r>
                        <a:rPr lang="en-US" sz="1250" dirty="0">
                          <a:solidFill>
                            <a:srgbClr val="172A46"/>
                          </a:solidFill>
                          <a:latin typeface="Arial" pitchFamily="34" charset="0"/>
                          <a:ea typeface="Arial" pitchFamily="34" charset="-122"/>
                          <a:cs typeface="Arial" pitchFamily="34" charset="-120"/>
                        </a:rPr>
                        <a:t>Worker verification</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Cooperative-admin verification, document upload and skill/certification profile</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Digital workflows and authorized verification systems</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1"/>
                  </a:ext>
                </a:extLst>
              </a:tr>
              <a:tr h="543904">
                <a:tc>
                  <a:txBody>
                    <a:bodyPr/>
                    <a:lstStyle/>
                    <a:p>
                      <a:pPr marL="0" indent="0">
                        <a:buNone/>
                      </a:pPr>
                      <a:r>
                        <a:rPr lang="en-US" sz="1250" dirty="0">
                          <a:solidFill>
                            <a:srgbClr val="172A46"/>
                          </a:solidFill>
                          <a:latin typeface="Arial" pitchFamily="34" charset="0"/>
                          <a:ea typeface="Arial" pitchFamily="34" charset="-122"/>
                          <a:cs typeface="Arial" pitchFamily="34" charset="-120"/>
                        </a:rPr>
                        <a:t>Geo-location matching</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GPS location, service radius and service/category filtering</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Real-time location-aware matching and demand heatmaps</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2"/>
                  </a:ext>
                </a:extLst>
              </a:tr>
              <a:tr h="543904">
                <a:tc>
                  <a:txBody>
                    <a:bodyPr/>
                    <a:lstStyle/>
                    <a:p>
                      <a:pPr marL="0" indent="0">
                        <a:buNone/>
                      </a:pPr>
                      <a:r>
                        <a:rPr lang="en-US" sz="1250" dirty="0">
                          <a:solidFill>
                            <a:srgbClr val="172A46"/>
                          </a:solidFill>
                          <a:latin typeface="Arial" pitchFamily="34" charset="0"/>
                          <a:ea typeface="Arial" pitchFamily="34" charset="-122"/>
                          <a:cs typeface="Arial" pitchFamily="34" charset="-120"/>
                        </a:rPr>
                        <a:t>AI workforce allocation</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Historical/mock booking dataset and simple demand forecasting model</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Continuous learning from real booking data and seasonal/geographic demand</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3"/>
                  </a:ext>
                </a:extLst>
              </a:tr>
              <a:tr h="543904">
                <a:tc>
                  <a:txBody>
                    <a:bodyPr/>
                    <a:lstStyle/>
                    <a:p>
                      <a:pPr marL="0" indent="0">
                        <a:buNone/>
                      </a:pPr>
                      <a:r>
                        <a:rPr lang="en-US" sz="1250" dirty="0">
                          <a:solidFill>
                            <a:srgbClr val="172A46"/>
                          </a:solidFill>
                          <a:latin typeface="Arial" pitchFamily="34" charset="0"/>
                          <a:ea typeface="Arial" pitchFamily="34" charset="-122"/>
                          <a:cs typeface="Arial" pitchFamily="34" charset="-120"/>
                        </a:rPr>
                        <a:t>Digital payments</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Payment gateway sandbox / UPI-compatible workflow</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Production payment gateway integration and automated reconciliation</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4"/>
                  </a:ext>
                </a:extLst>
              </a:tr>
              <a:tr h="543904">
                <a:tc>
                  <a:txBody>
                    <a:bodyPr/>
                    <a:lstStyle/>
                    <a:p>
                      <a:pPr marL="0" indent="0">
                        <a:buNone/>
                      </a:pPr>
                      <a:r>
                        <a:rPr lang="en-US" sz="1250" dirty="0">
                          <a:solidFill>
                            <a:srgbClr val="172A46"/>
                          </a:solidFill>
                          <a:latin typeface="Arial" pitchFamily="34" charset="0"/>
                          <a:ea typeface="Arial" pitchFamily="34" charset="-122"/>
                          <a:cs typeface="Arial" pitchFamily="34" charset="-120"/>
                        </a:rPr>
                        <a:t>Worker welfare</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Worker welfare profile, insurance/status records and links to applicable schemes</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Potential e-Shram/government welfare and social-security integrations, subject to API availability and authorization</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5"/>
                  </a:ext>
                </a:extLst>
              </a:tr>
              <a:tr h="325925">
                <a:tc>
                  <a:txBody>
                    <a:bodyPr/>
                    <a:lstStyle/>
                    <a:p>
                      <a:pPr marL="0" indent="0">
                        <a:buNone/>
                      </a:pPr>
                      <a:r>
                        <a:rPr lang="en-US" sz="1250" dirty="0">
                          <a:solidFill>
                            <a:srgbClr val="172A46"/>
                          </a:solidFill>
                          <a:latin typeface="Arial" pitchFamily="34" charset="0"/>
                          <a:ea typeface="Arial" pitchFamily="34" charset="-122"/>
                          <a:cs typeface="Arial" pitchFamily="34" charset="-120"/>
                        </a:rPr>
                        <a:t>Multilingual access</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English, Hindi and a selected regional language</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Additional Indian languages and voice-assisted interaction</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7EA6D8"/>
                      </a:solidFill>
                      <a:prstDash val="solid"/>
                      <a:round/>
                      <a:headEnd type="none" w="med" len="med"/>
                      <a:tailEnd type="none" w="med" len="med"/>
                    </a:lnB>
                  </a:tcPr>
                </a:tc>
                <a:extLst>
                  <a:ext uri="{0D108BD9-81ED-4DB2-BD59-A6C34878D82A}">
                    <a16:rowId xmlns:a16="http://schemas.microsoft.com/office/drawing/2014/main" val="10006"/>
                  </a:ext>
                </a:extLst>
              </a:tr>
              <a:tr h="543904">
                <a:tc>
                  <a:txBody>
                    <a:bodyPr/>
                    <a:lstStyle/>
                    <a:p>
                      <a:pPr marL="0" indent="0">
                        <a:buNone/>
                      </a:pPr>
                      <a:r>
                        <a:rPr lang="en-US" sz="1250" dirty="0">
                          <a:solidFill>
                            <a:srgbClr val="172A46"/>
                          </a:solidFill>
                          <a:latin typeface="Arial" pitchFamily="34" charset="0"/>
                          <a:ea typeface="Arial" pitchFamily="34" charset="-122"/>
                          <a:cs typeface="Arial" pitchFamily="34" charset="-120"/>
                        </a:rPr>
                        <a:t>Emergency services</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Priority booking flag and nearest eligible worker matching</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buNone/>
                      </a:pPr>
                      <a:r>
                        <a:rPr lang="en-US" sz="1250" dirty="0">
                          <a:solidFill>
                            <a:srgbClr val="172A46"/>
                          </a:solidFill>
                          <a:latin typeface="Arial" pitchFamily="34" charset="0"/>
                          <a:ea typeface="Arial" pitchFamily="34" charset="-122"/>
                          <a:cs typeface="Arial" pitchFamily="34" charset="-120"/>
                        </a:rPr>
                        <a:t>Real-time availability and emergency dispatch logic</a:t>
                      </a:r>
                      <a:endParaRPr lang="en-US" sz="1250" dirty="0">
                        <a:latin typeface="Arial" charset="0"/>
                        <a:ea typeface="Arial" charset="0"/>
                        <a:cs typeface="Arial" charset="0"/>
                      </a:endParaRPr>
                    </a:p>
                  </a:txBody>
                  <a:tcPr marL="101598" marR="152396" marT="50799" marB="507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7EA6D8"/>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Shape 2"/>
          <p:cNvSpPr/>
          <p:nvPr/>
        </p:nvSpPr>
        <p:spPr>
          <a:xfrm>
            <a:off x="558786" y="5951240"/>
            <a:ext cx="11074123" cy="901105"/>
          </a:xfrm>
          <a:prstGeom prst="roundRect">
            <a:avLst>
              <a:gd name="adj" fmla="val 1268"/>
            </a:avLst>
          </a:prstGeom>
          <a:solidFill>
            <a:srgbClr val="FCF2B5"/>
          </a:solidFill>
          <a:ln/>
        </p:spPr>
      </p:sp>
      <p:sp>
        <p:nvSpPr>
          <p:cNvPr id="6" name="Text 3"/>
          <p:cNvSpPr/>
          <p:nvPr/>
        </p:nvSpPr>
        <p:spPr>
          <a:xfrm>
            <a:off x="731422" y="6167041"/>
            <a:ext cx="10728850" cy="469503"/>
          </a:xfrm>
          <a:prstGeom prst="rect">
            <a:avLst/>
          </a:prstGeom>
          <a:noFill/>
          <a:ln/>
        </p:spPr>
        <p:txBody>
          <a:bodyPr wrap="square" lIns="0" tIns="0" rIns="0" bIns="0" rtlCol="0" anchor="t">
            <a:normAutofit/>
          </a:bodyPr>
          <a:lstStyle/>
          <a:p>
            <a:pPr marL="0" indent="0" algn="l">
              <a:lnSpc>
                <a:spcPct val="113000"/>
              </a:lnSpc>
              <a:buNone/>
            </a:pPr>
            <a:r>
              <a:rPr lang="en-US" sz="1350" b="1" dirty="0">
                <a:solidFill>
                  <a:srgbClr val="000000"/>
                </a:solidFill>
                <a:latin typeface="Arial Bold" pitchFamily="34" charset="0"/>
                <a:ea typeface="Arial Bold" pitchFamily="34" charset="-122"/>
                <a:cs typeface="Arial Bold" pitchFamily="34" charset="-120"/>
              </a:rPr>
              <a:t>MVP is implementable as a hackathon prototype;</a:t>
            </a:r>
            <a:r>
              <a:rPr lang="en-US" sz="1350" dirty="0">
                <a:solidFill>
                  <a:srgbClr val="000000"/>
                </a:solidFill>
                <a:latin typeface="Arial" pitchFamily="34" charset="0"/>
                <a:ea typeface="Arial" pitchFamily="34" charset="-122"/>
                <a:cs typeface="Arial" pitchFamily="34" charset="-120"/>
              </a:rPr>
              <a:t> production deployment requires institutional, payment, data-protection and government-integration approvals.</a:t>
            </a:r>
            <a:endParaRPr lang="en-US" sz="1350" dirty="0"/>
          </a:p>
        </p:txBody>
      </p:sp>
      <p:sp>
        <p:nvSpPr>
          <p:cNvPr id="7" name="Text 4"/>
          <p:cNvSpPr/>
          <p:nvPr/>
        </p:nvSpPr>
        <p:spPr>
          <a:xfrm>
            <a:off x="11482497" y="6516390"/>
            <a:ext cx="709198" cy="175220"/>
          </a:xfrm>
          <a:prstGeom prst="rect">
            <a:avLst/>
          </a:prstGeom>
          <a:noFill/>
          <a:ln/>
        </p:spPr>
        <p:txBody>
          <a:bodyPr wrap="none" lIns="0" tIns="0" rIns="0" bIns="0" rtlCol="0" anchor="ctr"/>
          <a:lstStyle/>
          <a:p>
            <a:pPr marL="0" indent="0" algn="l">
              <a:lnSpc>
                <a:spcPct val="115000"/>
              </a:lnSpc>
              <a:buNone/>
            </a:pPr>
            <a:r>
              <a:rPr lang="en-US" sz="1000" kern="0" spc="20" dirty="0">
                <a:solidFill>
                  <a:srgbClr val="536579"/>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E65DA53-2CBD-4A19-A1B6-33D356197331}"/>
              </a:ext>
            </a:extLst>
          </p:cNvPr>
          <p:cNvSpPr/>
          <p:nvPr/>
        </p:nvSpPr>
        <p:spPr>
          <a:xfrm>
            <a:off x="10983489" y="6499820"/>
            <a:ext cx="1208206" cy="358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558786" y="558800"/>
            <a:ext cx="11632909"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536579"/>
                </a:solidFill>
                <a:latin typeface="Galdeano" pitchFamily="34" charset="0"/>
                <a:ea typeface="Galdeano" pitchFamily="34" charset="-122"/>
                <a:cs typeface="Galdeano" pitchFamily="34" charset="-120"/>
              </a:rPr>
              <a:t>04 · ECOSYSTEM VALUE</a:t>
            </a:r>
            <a:endParaRPr lang="en-US" sz="1100" dirty="0"/>
          </a:p>
        </p:txBody>
      </p:sp>
      <p:sp>
        <p:nvSpPr>
          <p:cNvPr id="3" name="Text 1"/>
          <p:cNvSpPr/>
          <p:nvPr/>
        </p:nvSpPr>
        <p:spPr>
          <a:xfrm>
            <a:off x="558786" y="940296"/>
            <a:ext cx="11074123" cy="426641"/>
          </a:xfrm>
          <a:prstGeom prst="rect">
            <a:avLst/>
          </a:prstGeom>
          <a:noFill/>
          <a:ln/>
        </p:spPr>
        <p:txBody>
          <a:bodyPr wrap="none" lIns="0" tIns="0" rIns="0" bIns="0" rtlCol="0" anchor="t"/>
          <a:lstStyle/>
          <a:p>
            <a:pPr marL="0" indent="0" algn="l">
              <a:lnSpc>
                <a:spcPct val="93000"/>
              </a:lnSpc>
              <a:buNone/>
            </a:pPr>
            <a:r>
              <a:rPr lang="en-US" sz="3000" b="1" kern="0" spc="-45" dirty="0">
                <a:solidFill>
                  <a:srgbClr val="172A46"/>
                </a:solidFill>
                <a:latin typeface="Arial Bold" pitchFamily="34" charset="0"/>
                <a:ea typeface="Arial Bold" pitchFamily="34" charset="-122"/>
                <a:cs typeface="Arial Bold" pitchFamily="34" charset="-120"/>
              </a:rPr>
              <a:t>THREE SIDES OF THE COOPERATIVE SERVICE ECOSYSTEM</a:t>
            </a:r>
            <a:endParaRPr lang="en-US" sz="3000" dirty="0"/>
          </a:p>
        </p:txBody>
      </p:sp>
      <p:sp>
        <p:nvSpPr>
          <p:cNvPr id="4" name="Text 2"/>
          <p:cNvSpPr/>
          <p:nvPr/>
        </p:nvSpPr>
        <p:spPr>
          <a:xfrm>
            <a:off x="558786" y="1592362"/>
            <a:ext cx="3462747" cy="274241"/>
          </a:xfrm>
          <a:prstGeom prst="rect">
            <a:avLst/>
          </a:prstGeom>
          <a:noFill/>
          <a:ln/>
        </p:spPr>
        <p:txBody>
          <a:bodyPr wrap="none" lIns="0" tIns="0" rIns="0" bIns="0" rtlCol="0" anchor="t"/>
          <a:lstStyle/>
          <a:p>
            <a:pPr marL="0" indent="0" algn="ctr">
              <a:lnSpc>
                <a:spcPct val="100000"/>
              </a:lnSpc>
              <a:buNone/>
            </a:pPr>
            <a:r>
              <a:rPr lang="en-US" sz="1800" dirty="0">
                <a:solidFill>
                  <a:srgbClr val="172A46"/>
                </a:solidFill>
                <a:latin typeface="Galdeano" pitchFamily="34" charset="0"/>
                <a:ea typeface="Galdeano" pitchFamily="34" charset="-122"/>
                <a:cs typeface="Galdeano" pitchFamily="34" charset="-120"/>
              </a:rPr>
              <a:t>Worker</a:t>
            </a:r>
            <a:endParaRPr lang="en-US" sz="1800" dirty="0"/>
          </a:p>
        </p:txBody>
      </p:sp>
      <p:sp>
        <p:nvSpPr>
          <p:cNvPr id="5" name="Text 3"/>
          <p:cNvSpPr/>
          <p:nvPr/>
        </p:nvSpPr>
        <p:spPr>
          <a:xfrm>
            <a:off x="558786" y="2028527"/>
            <a:ext cx="3462747" cy="1152525"/>
          </a:xfrm>
          <a:prstGeom prst="rect">
            <a:avLst/>
          </a:prstGeom>
          <a:noFill/>
          <a:ln/>
        </p:spPr>
        <p:txBody>
          <a:bodyPr wrap="square" lIns="0" tIns="0" rIns="0" bIns="0" rtlCol="0" anchor="t">
            <a:normAutofit/>
          </a:bodyPr>
          <a:lstStyle/>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Profile visibility and skills</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Nearby verified requests</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Availability and booking updates</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Earnings and welfare records</a:t>
            </a:r>
            <a:endParaRPr lang="en-US" sz="1400" dirty="0"/>
          </a:p>
        </p:txBody>
      </p:sp>
      <p:sp>
        <p:nvSpPr>
          <p:cNvPr id="6" name="Text 4"/>
          <p:cNvSpPr/>
          <p:nvPr/>
        </p:nvSpPr>
        <p:spPr>
          <a:xfrm>
            <a:off x="4478722" y="1592362"/>
            <a:ext cx="3234153" cy="274241"/>
          </a:xfrm>
          <a:prstGeom prst="rect">
            <a:avLst/>
          </a:prstGeom>
          <a:noFill/>
          <a:ln/>
        </p:spPr>
        <p:txBody>
          <a:bodyPr wrap="none" lIns="0" tIns="0" rIns="0" bIns="0" rtlCol="0" anchor="t"/>
          <a:lstStyle/>
          <a:p>
            <a:pPr marL="0" indent="0" algn="ctr">
              <a:lnSpc>
                <a:spcPct val="100000"/>
              </a:lnSpc>
              <a:buNone/>
            </a:pPr>
            <a:r>
              <a:rPr lang="en-US" sz="1800" dirty="0">
                <a:solidFill>
                  <a:srgbClr val="172A46"/>
                </a:solidFill>
                <a:latin typeface="Galdeano" pitchFamily="34" charset="0"/>
                <a:ea typeface="Galdeano" pitchFamily="34" charset="-122"/>
                <a:cs typeface="Galdeano" pitchFamily="34" charset="-120"/>
              </a:rPr>
              <a:t>Customer</a:t>
            </a:r>
            <a:endParaRPr lang="en-US" sz="1800" dirty="0"/>
          </a:p>
        </p:txBody>
      </p:sp>
      <p:sp>
        <p:nvSpPr>
          <p:cNvPr id="7" name="Text 5"/>
          <p:cNvSpPr/>
          <p:nvPr/>
        </p:nvSpPr>
        <p:spPr>
          <a:xfrm>
            <a:off x="4478722" y="2028527"/>
            <a:ext cx="3234153" cy="1152525"/>
          </a:xfrm>
          <a:prstGeom prst="rect">
            <a:avLst/>
          </a:prstGeom>
          <a:noFill/>
          <a:ln/>
        </p:spPr>
        <p:txBody>
          <a:bodyPr wrap="square" lIns="0" tIns="0" rIns="0" bIns="0" rtlCol="0" anchor="t">
            <a:normAutofit/>
          </a:bodyPr>
          <a:lstStyle/>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Verified nearby providers</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Service and location matching</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Booking and payment status</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Ratings and feedback</a:t>
            </a:r>
            <a:endParaRPr lang="en-US" sz="1400" dirty="0"/>
          </a:p>
        </p:txBody>
      </p:sp>
      <p:sp>
        <p:nvSpPr>
          <p:cNvPr id="8" name="Text 6"/>
          <p:cNvSpPr/>
          <p:nvPr/>
        </p:nvSpPr>
        <p:spPr>
          <a:xfrm>
            <a:off x="8170063" y="1592362"/>
            <a:ext cx="3462846" cy="274241"/>
          </a:xfrm>
          <a:prstGeom prst="rect">
            <a:avLst/>
          </a:prstGeom>
          <a:noFill/>
          <a:ln/>
        </p:spPr>
        <p:txBody>
          <a:bodyPr wrap="none" lIns="0" tIns="0" rIns="0" bIns="0" rtlCol="0" anchor="t"/>
          <a:lstStyle/>
          <a:p>
            <a:pPr marL="0" indent="0" algn="ctr">
              <a:lnSpc>
                <a:spcPct val="100000"/>
              </a:lnSpc>
              <a:buNone/>
            </a:pPr>
            <a:r>
              <a:rPr lang="en-US" sz="1800" dirty="0">
                <a:solidFill>
                  <a:srgbClr val="172A46"/>
                </a:solidFill>
                <a:latin typeface="Galdeano" pitchFamily="34" charset="0"/>
                <a:ea typeface="Galdeano" pitchFamily="34" charset="-122"/>
                <a:cs typeface="Galdeano" pitchFamily="34" charset="-120"/>
              </a:rPr>
              <a:t>Cooperative</a:t>
            </a:r>
            <a:endParaRPr lang="en-US" sz="1800" dirty="0"/>
          </a:p>
        </p:txBody>
      </p:sp>
      <p:sp>
        <p:nvSpPr>
          <p:cNvPr id="9" name="Text 7"/>
          <p:cNvSpPr/>
          <p:nvPr/>
        </p:nvSpPr>
        <p:spPr>
          <a:xfrm>
            <a:off x="8170063" y="2028527"/>
            <a:ext cx="3462846" cy="1152525"/>
          </a:xfrm>
          <a:prstGeom prst="rect">
            <a:avLst/>
          </a:prstGeom>
          <a:noFill/>
          <a:ln/>
        </p:spPr>
        <p:txBody>
          <a:bodyPr wrap="square" lIns="0" tIns="0" rIns="0" bIns="0" rtlCol="0" anchor="t">
            <a:normAutofit/>
          </a:bodyPr>
          <a:lstStyle/>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Worker registry and verification</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Availability and booking oversight</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Demand and utilization insight</a:t>
            </a:r>
            <a:endParaRPr lang="en-US" sz="1400" dirty="0"/>
          </a:p>
          <a:p>
            <a:pPr marL="284480" indent="-284480" algn="l">
              <a:lnSpc>
                <a:spcPct val="115000"/>
              </a:lnSpc>
              <a:buSzPct val="100000"/>
              <a:buChar char="•"/>
            </a:pPr>
            <a:r>
              <a:rPr lang="en-US" sz="1400" dirty="0">
                <a:solidFill>
                  <a:srgbClr val="172A46"/>
                </a:solidFill>
                <a:latin typeface="Arial" pitchFamily="34" charset="0"/>
                <a:ea typeface="Arial" pitchFamily="34" charset="-122"/>
                <a:cs typeface="Arial" pitchFamily="34" charset="-120"/>
              </a:rPr>
              <a:t>Welfare administration</a:t>
            </a:r>
            <a:endParaRPr lang="en-US" sz="1400" dirty="0"/>
          </a:p>
        </p:txBody>
      </p:sp>
      <p:sp>
        <p:nvSpPr>
          <p:cNvPr id="10" name="Shape 8"/>
          <p:cNvSpPr/>
          <p:nvPr/>
        </p:nvSpPr>
        <p:spPr>
          <a:xfrm>
            <a:off x="558786" y="3384252"/>
            <a:ext cx="2284752" cy="1051421"/>
          </a:xfrm>
          <a:prstGeom prst="rect">
            <a:avLst/>
          </a:prstGeom>
          <a:solidFill>
            <a:srgbClr val="E8F1FF"/>
          </a:solidFill>
          <a:ln/>
        </p:spPr>
      </p:sp>
      <p:sp>
        <p:nvSpPr>
          <p:cNvPr id="11" name="Text 9"/>
          <p:cNvSpPr/>
          <p:nvPr/>
        </p:nvSpPr>
        <p:spPr>
          <a:xfrm>
            <a:off x="1227901" y="3612852"/>
            <a:ext cx="946523"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aldeano" pitchFamily="34" charset="0"/>
                <a:ea typeface="Galdeano" pitchFamily="34" charset="-122"/>
                <a:cs typeface="Galdeano" pitchFamily="34" charset="-120"/>
              </a:rPr>
              <a:t>CUSTOMER</a:t>
            </a:r>
            <a:endParaRPr lang="en-US" sz="1600" dirty="0"/>
          </a:p>
        </p:txBody>
      </p:sp>
      <p:sp>
        <p:nvSpPr>
          <p:cNvPr id="12" name="Shape 10"/>
          <p:cNvSpPr/>
          <p:nvPr/>
        </p:nvSpPr>
        <p:spPr>
          <a:xfrm>
            <a:off x="2995835" y="3657302"/>
            <a:ext cx="1178094" cy="38100"/>
          </a:xfrm>
          <a:prstGeom prst="roundRect">
            <a:avLst>
              <a:gd name="adj" fmla="val 49999"/>
            </a:avLst>
          </a:prstGeom>
          <a:solidFill>
            <a:srgbClr val="B8C7D9"/>
          </a:solidFill>
          <a:ln/>
        </p:spPr>
      </p:sp>
      <p:sp>
        <p:nvSpPr>
          <p:cNvPr id="13" name="Text 11"/>
          <p:cNvSpPr/>
          <p:nvPr/>
        </p:nvSpPr>
        <p:spPr>
          <a:xfrm>
            <a:off x="2995835" y="3873202"/>
            <a:ext cx="1178094" cy="188516"/>
          </a:xfrm>
          <a:prstGeom prst="rect">
            <a:avLst/>
          </a:prstGeom>
          <a:noFill/>
          <a:ln/>
        </p:spPr>
        <p:txBody>
          <a:bodyPr wrap="none" lIns="0" tIns="0" rIns="0" bIns="0" rtlCol="0" anchor="t"/>
          <a:lstStyle/>
          <a:p>
            <a:pPr marL="0" indent="0" algn="ctr">
              <a:lnSpc>
                <a:spcPct val="112000"/>
              </a:lnSpc>
              <a:buNone/>
            </a:pPr>
            <a:r>
              <a:rPr lang="en-US" sz="1100" dirty="0">
                <a:solidFill>
                  <a:srgbClr val="536579"/>
                </a:solidFill>
                <a:latin typeface="Galdeano" pitchFamily="34" charset="0"/>
                <a:ea typeface="Galdeano" pitchFamily="34" charset="-122"/>
                <a:cs typeface="Galdeano" pitchFamily="34" charset="-120"/>
              </a:rPr>
              <a:t>two-way</a:t>
            </a:r>
            <a:endParaRPr lang="en-US" sz="1100" dirty="0"/>
          </a:p>
        </p:txBody>
      </p:sp>
      <p:sp>
        <p:nvSpPr>
          <p:cNvPr id="14" name="Shape 12"/>
          <p:cNvSpPr/>
          <p:nvPr/>
        </p:nvSpPr>
        <p:spPr>
          <a:xfrm>
            <a:off x="4326325" y="3384252"/>
            <a:ext cx="3538945" cy="1051421"/>
          </a:xfrm>
          <a:prstGeom prst="rect">
            <a:avLst/>
          </a:prstGeom>
          <a:solidFill>
            <a:srgbClr val="BFD8FF"/>
          </a:solidFill>
          <a:ln/>
        </p:spPr>
      </p:sp>
      <p:sp>
        <p:nvSpPr>
          <p:cNvPr id="15" name="Text 13"/>
          <p:cNvSpPr/>
          <p:nvPr/>
        </p:nvSpPr>
        <p:spPr>
          <a:xfrm>
            <a:off x="5657312" y="3612852"/>
            <a:ext cx="876873"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aldeano" pitchFamily="34" charset="0"/>
                <a:ea typeface="Galdeano" pitchFamily="34" charset="-122"/>
                <a:cs typeface="Galdeano" pitchFamily="34" charset="-120"/>
              </a:rPr>
              <a:t>PLATFORM</a:t>
            </a:r>
            <a:endParaRPr lang="en-US" sz="1600" dirty="0"/>
          </a:p>
        </p:txBody>
      </p:sp>
      <p:sp>
        <p:nvSpPr>
          <p:cNvPr id="16" name="Text 14"/>
          <p:cNvSpPr/>
          <p:nvPr/>
        </p:nvSpPr>
        <p:spPr>
          <a:xfrm>
            <a:off x="5547479" y="4018558"/>
            <a:ext cx="1706123" cy="188516"/>
          </a:xfrm>
          <a:prstGeom prst="rect">
            <a:avLst/>
          </a:prstGeom>
          <a:noFill/>
          <a:ln/>
        </p:spPr>
        <p:txBody>
          <a:bodyPr wrap="none" lIns="0" tIns="0" rIns="0" bIns="0" rtlCol="0" anchor="t"/>
          <a:lstStyle/>
          <a:p>
            <a:pPr marL="0" indent="0" algn="l">
              <a:lnSpc>
                <a:spcPct val="112000"/>
              </a:lnSpc>
              <a:buNone/>
            </a:pPr>
            <a:r>
              <a:rPr lang="en-US" sz="1100" dirty="0">
                <a:solidFill>
                  <a:srgbClr val="000000"/>
                </a:solidFill>
                <a:latin typeface="Galdeano" pitchFamily="34" charset="0"/>
                <a:ea typeface="Galdeano" pitchFamily="34" charset="-122"/>
                <a:cs typeface="Galdeano" pitchFamily="34" charset="-120"/>
              </a:rPr>
              <a:t>match · book · track</a:t>
            </a:r>
            <a:endParaRPr lang="en-US" sz="1100" dirty="0"/>
          </a:p>
        </p:txBody>
      </p:sp>
      <p:sp>
        <p:nvSpPr>
          <p:cNvPr id="17" name="Shape 15"/>
          <p:cNvSpPr/>
          <p:nvPr/>
        </p:nvSpPr>
        <p:spPr>
          <a:xfrm>
            <a:off x="8017667" y="3657302"/>
            <a:ext cx="1369879" cy="38100"/>
          </a:xfrm>
          <a:prstGeom prst="roundRect">
            <a:avLst>
              <a:gd name="adj" fmla="val 49999"/>
            </a:avLst>
          </a:prstGeom>
          <a:solidFill>
            <a:srgbClr val="B8C7D9"/>
          </a:solidFill>
          <a:ln/>
        </p:spPr>
      </p:sp>
      <p:sp>
        <p:nvSpPr>
          <p:cNvPr id="18" name="Text 16"/>
          <p:cNvSpPr/>
          <p:nvPr/>
        </p:nvSpPr>
        <p:spPr>
          <a:xfrm>
            <a:off x="8017667" y="3873202"/>
            <a:ext cx="1369879" cy="188516"/>
          </a:xfrm>
          <a:prstGeom prst="rect">
            <a:avLst/>
          </a:prstGeom>
          <a:noFill/>
          <a:ln/>
        </p:spPr>
        <p:txBody>
          <a:bodyPr wrap="none" lIns="0" tIns="0" rIns="0" bIns="0" rtlCol="0" anchor="t"/>
          <a:lstStyle/>
          <a:p>
            <a:pPr marL="0" indent="0" algn="ctr">
              <a:lnSpc>
                <a:spcPct val="112000"/>
              </a:lnSpc>
              <a:buNone/>
            </a:pPr>
            <a:r>
              <a:rPr lang="en-US" sz="1100" dirty="0">
                <a:solidFill>
                  <a:srgbClr val="536579"/>
                </a:solidFill>
                <a:latin typeface="Galdeano" pitchFamily="34" charset="0"/>
                <a:ea typeface="Galdeano" pitchFamily="34" charset="-122"/>
                <a:cs typeface="Galdeano" pitchFamily="34" charset="-120"/>
              </a:rPr>
              <a:t>two-way</a:t>
            </a:r>
            <a:endParaRPr lang="en-US" sz="1100" dirty="0"/>
          </a:p>
        </p:txBody>
      </p:sp>
      <p:sp>
        <p:nvSpPr>
          <p:cNvPr id="19" name="Shape 17"/>
          <p:cNvSpPr/>
          <p:nvPr/>
        </p:nvSpPr>
        <p:spPr>
          <a:xfrm>
            <a:off x="9539843" y="3384252"/>
            <a:ext cx="2093066" cy="1051421"/>
          </a:xfrm>
          <a:prstGeom prst="rect">
            <a:avLst/>
          </a:prstGeom>
          <a:solidFill>
            <a:srgbClr val="E3F4E8"/>
          </a:solidFill>
          <a:ln/>
        </p:spPr>
      </p:sp>
      <p:sp>
        <p:nvSpPr>
          <p:cNvPr id="20" name="Text 18"/>
          <p:cNvSpPr/>
          <p:nvPr/>
        </p:nvSpPr>
        <p:spPr>
          <a:xfrm>
            <a:off x="10215307" y="3612852"/>
            <a:ext cx="742138"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aldeano" pitchFamily="34" charset="0"/>
                <a:ea typeface="Galdeano" pitchFamily="34" charset="-122"/>
                <a:cs typeface="Galdeano" pitchFamily="34" charset="-120"/>
              </a:rPr>
              <a:t>WORKER</a:t>
            </a:r>
            <a:endParaRPr lang="en-US" sz="1600" dirty="0"/>
          </a:p>
        </p:txBody>
      </p:sp>
      <p:sp>
        <p:nvSpPr>
          <p:cNvPr id="21" name="Shape 19"/>
          <p:cNvSpPr/>
          <p:nvPr/>
        </p:nvSpPr>
        <p:spPr>
          <a:xfrm>
            <a:off x="558786" y="4588073"/>
            <a:ext cx="3615143" cy="1051421"/>
          </a:xfrm>
          <a:prstGeom prst="rect">
            <a:avLst/>
          </a:prstGeom>
          <a:solidFill>
            <a:srgbClr val="FFF0D9"/>
          </a:solidFill>
          <a:ln/>
        </p:spPr>
      </p:sp>
      <p:sp>
        <p:nvSpPr>
          <p:cNvPr id="22" name="Text 20"/>
          <p:cNvSpPr/>
          <p:nvPr/>
        </p:nvSpPr>
        <p:spPr>
          <a:xfrm>
            <a:off x="1776963" y="4816673"/>
            <a:ext cx="1178788"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aldeano" pitchFamily="34" charset="0"/>
                <a:ea typeface="Galdeano" pitchFamily="34" charset="-122"/>
                <a:cs typeface="Galdeano" pitchFamily="34" charset="-120"/>
              </a:rPr>
              <a:t>COOPERATIVE</a:t>
            </a:r>
            <a:endParaRPr lang="en-US" sz="1600" dirty="0"/>
          </a:p>
        </p:txBody>
      </p:sp>
      <p:sp>
        <p:nvSpPr>
          <p:cNvPr id="23" name="Text 21"/>
          <p:cNvSpPr/>
          <p:nvPr/>
        </p:nvSpPr>
        <p:spPr>
          <a:xfrm>
            <a:off x="1707611" y="5222379"/>
            <a:ext cx="1926978" cy="188516"/>
          </a:xfrm>
          <a:prstGeom prst="rect">
            <a:avLst/>
          </a:prstGeom>
          <a:noFill/>
          <a:ln/>
        </p:spPr>
        <p:txBody>
          <a:bodyPr wrap="none" lIns="0" tIns="0" rIns="0" bIns="0" rtlCol="0" anchor="t"/>
          <a:lstStyle/>
          <a:p>
            <a:pPr marL="0" indent="0" algn="l">
              <a:lnSpc>
                <a:spcPct val="112000"/>
              </a:lnSpc>
              <a:buNone/>
            </a:pPr>
            <a:r>
              <a:rPr lang="en-US" sz="1100" dirty="0">
                <a:solidFill>
                  <a:srgbClr val="000000"/>
                </a:solidFill>
                <a:latin typeface="Galdeano" pitchFamily="34" charset="0"/>
                <a:ea typeface="Galdeano" pitchFamily="34" charset="-122"/>
                <a:cs typeface="Galdeano" pitchFamily="34" charset="-120"/>
              </a:rPr>
              <a:t>platform administration</a:t>
            </a:r>
            <a:endParaRPr lang="en-US" sz="1100" dirty="0"/>
          </a:p>
        </p:txBody>
      </p:sp>
      <p:sp>
        <p:nvSpPr>
          <p:cNvPr id="24" name="Text 22"/>
          <p:cNvSpPr/>
          <p:nvPr/>
        </p:nvSpPr>
        <p:spPr>
          <a:xfrm>
            <a:off x="4326325" y="4816673"/>
            <a:ext cx="3538945" cy="377031"/>
          </a:xfrm>
          <a:prstGeom prst="rect">
            <a:avLst/>
          </a:prstGeom>
          <a:noFill/>
          <a:ln/>
        </p:spPr>
        <p:txBody>
          <a:bodyPr wrap="square" lIns="0" tIns="0" rIns="0" bIns="0" rtlCol="0" anchor="t">
            <a:normAutofit/>
          </a:bodyPr>
          <a:lstStyle/>
          <a:p>
            <a:pPr marL="0" indent="0" algn="ctr">
              <a:lnSpc>
                <a:spcPct val="112000"/>
              </a:lnSpc>
              <a:buNone/>
            </a:pPr>
            <a:r>
              <a:rPr lang="en-US" sz="1100" dirty="0">
                <a:solidFill>
                  <a:srgbClr val="536579"/>
                </a:solidFill>
                <a:latin typeface="Galdeano" pitchFamily="34" charset="0"/>
                <a:ea typeface="Galdeano" pitchFamily="34" charset="-122"/>
                <a:cs typeface="Galdeano" pitchFamily="34" charset="-120"/>
              </a:rPr>
              <a:t>PLATFORM → COOPERATIVE</a:t>
            </a:r>
            <a:endParaRPr lang="en-US" sz="1100" dirty="0"/>
          </a:p>
          <a:p>
            <a:pPr marL="0" indent="0" algn="ctr">
              <a:lnSpc>
                <a:spcPct val="112000"/>
              </a:lnSpc>
              <a:buNone/>
            </a:pPr>
            <a:r>
              <a:rPr lang="en-US" sz="1100" dirty="0">
                <a:solidFill>
                  <a:srgbClr val="536579"/>
                </a:solidFill>
                <a:latin typeface="Galdeano" pitchFamily="34" charset="0"/>
                <a:ea typeface="Galdeano" pitchFamily="34" charset="-122"/>
                <a:cs typeface="Galdeano" pitchFamily="34" charset="-120"/>
              </a:rPr>
              <a:t>PLATFORM → AI / ANALYTICS</a:t>
            </a:r>
            <a:endParaRPr lang="en-US" sz="1100" dirty="0"/>
          </a:p>
        </p:txBody>
      </p:sp>
      <p:sp>
        <p:nvSpPr>
          <p:cNvPr id="25" name="Shape 23"/>
          <p:cNvSpPr/>
          <p:nvPr/>
        </p:nvSpPr>
        <p:spPr>
          <a:xfrm>
            <a:off x="8017667" y="4588073"/>
            <a:ext cx="3615242" cy="1051421"/>
          </a:xfrm>
          <a:prstGeom prst="rect">
            <a:avLst/>
          </a:prstGeom>
          <a:solidFill>
            <a:srgbClr val="EDE4FF"/>
          </a:solidFill>
          <a:ln/>
        </p:spPr>
      </p:sp>
      <p:sp>
        <p:nvSpPr>
          <p:cNvPr id="26" name="Text 24"/>
          <p:cNvSpPr/>
          <p:nvPr/>
        </p:nvSpPr>
        <p:spPr>
          <a:xfrm>
            <a:off x="9208361" y="4816673"/>
            <a:ext cx="123385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aldeano" pitchFamily="34" charset="0"/>
                <a:ea typeface="Galdeano" pitchFamily="34" charset="-122"/>
                <a:cs typeface="Galdeano" pitchFamily="34" charset="-120"/>
              </a:rPr>
              <a:t>AI / ANALYTICS</a:t>
            </a:r>
            <a:endParaRPr lang="en-US" sz="1600" dirty="0"/>
          </a:p>
        </p:txBody>
      </p:sp>
      <p:sp>
        <p:nvSpPr>
          <p:cNvPr id="27" name="Text 25"/>
          <p:cNvSpPr/>
          <p:nvPr/>
        </p:nvSpPr>
        <p:spPr>
          <a:xfrm>
            <a:off x="9147045" y="5222379"/>
            <a:ext cx="1965970" cy="188516"/>
          </a:xfrm>
          <a:prstGeom prst="rect">
            <a:avLst/>
          </a:prstGeom>
          <a:noFill/>
          <a:ln/>
        </p:spPr>
        <p:txBody>
          <a:bodyPr wrap="none" lIns="0" tIns="0" rIns="0" bIns="0" rtlCol="0" anchor="t"/>
          <a:lstStyle/>
          <a:p>
            <a:pPr marL="0" indent="0" algn="l">
              <a:lnSpc>
                <a:spcPct val="112000"/>
              </a:lnSpc>
              <a:buNone/>
            </a:pPr>
            <a:r>
              <a:rPr lang="en-US" sz="1100" dirty="0">
                <a:solidFill>
                  <a:srgbClr val="000000"/>
                </a:solidFill>
                <a:latin typeface="Galdeano" pitchFamily="34" charset="0"/>
                <a:ea typeface="Galdeano" pitchFamily="34" charset="-122"/>
                <a:cs typeface="Galdeano" pitchFamily="34" charset="-120"/>
              </a:rPr>
              <a:t>proposed MVP capability</a:t>
            </a:r>
            <a:endParaRPr lang="en-US" sz="1100" dirty="0"/>
          </a:p>
        </p:txBody>
      </p:sp>
      <p:sp>
        <p:nvSpPr>
          <p:cNvPr id="28" name="Shape 26"/>
          <p:cNvSpPr/>
          <p:nvPr/>
        </p:nvSpPr>
        <p:spPr>
          <a:xfrm>
            <a:off x="558786" y="5885557"/>
            <a:ext cx="11074123" cy="12601"/>
          </a:xfrm>
          <a:prstGeom prst="roundRect">
            <a:avLst>
              <a:gd name="adj" fmla="val 49998"/>
            </a:avLst>
          </a:prstGeom>
          <a:solidFill>
            <a:srgbClr val="7EA6D8"/>
          </a:solidFill>
          <a:ln/>
        </p:spPr>
      </p:sp>
      <p:sp>
        <p:nvSpPr>
          <p:cNvPr id="29" name="Text 27"/>
          <p:cNvSpPr/>
          <p:nvPr/>
        </p:nvSpPr>
        <p:spPr>
          <a:xfrm>
            <a:off x="558786" y="6144320"/>
            <a:ext cx="1758509" cy="170656"/>
          </a:xfrm>
          <a:prstGeom prst="rect">
            <a:avLst/>
          </a:prstGeom>
          <a:noFill/>
          <a:ln/>
        </p:spPr>
        <p:txBody>
          <a:bodyPr wrap="none" lIns="0" tIns="0" rIns="0" bIns="0" rtlCol="0" anchor="t"/>
          <a:lstStyle/>
          <a:p>
            <a:pPr marL="0" indent="0" algn="l">
              <a:lnSpc>
                <a:spcPct val="100000"/>
              </a:lnSpc>
              <a:buNone/>
            </a:pPr>
            <a:r>
              <a:rPr lang="en-US" sz="1100" kern="0" spc="90" dirty="0">
                <a:solidFill>
                  <a:srgbClr val="172A46"/>
                </a:solidFill>
                <a:latin typeface="Galdeano" pitchFamily="34" charset="0"/>
                <a:ea typeface="Galdeano" pitchFamily="34" charset="-122"/>
                <a:cs typeface="Galdeano" pitchFamily="34" charset="-120"/>
              </a:rPr>
              <a:t>PROTOTYPE KPIS</a:t>
            </a:r>
            <a:endParaRPr lang="en-US" sz="1100" dirty="0"/>
          </a:p>
        </p:txBody>
      </p:sp>
      <p:sp>
        <p:nvSpPr>
          <p:cNvPr id="30" name="Text 28"/>
          <p:cNvSpPr/>
          <p:nvPr/>
        </p:nvSpPr>
        <p:spPr>
          <a:xfrm>
            <a:off x="3376330" y="6144320"/>
            <a:ext cx="8256579" cy="438150"/>
          </a:xfrm>
          <a:prstGeom prst="rect">
            <a:avLst/>
          </a:prstGeom>
          <a:noFill/>
          <a:ln/>
        </p:spPr>
        <p:txBody>
          <a:bodyPr wrap="square" lIns="0" tIns="0" rIns="0" bIns="0" rtlCol="0" anchor="t">
            <a:normAutofit/>
          </a:bodyPr>
          <a:lstStyle/>
          <a:p>
            <a:pPr marL="0" indent="0" algn="l">
              <a:lnSpc>
                <a:spcPct val="115000"/>
              </a:lnSpc>
              <a:buNone/>
            </a:pPr>
            <a:r>
              <a:rPr lang="en-US" sz="1250" dirty="0">
                <a:solidFill>
                  <a:srgbClr val="172A46"/>
                </a:solidFill>
                <a:latin typeface="Arial" pitchFamily="34" charset="0"/>
                <a:ea typeface="Arial" pitchFamily="34" charset="-122"/>
                <a:cs typeface="Arial" pitchFamily="34" charset="-120"/>
              </a:rPr>
              <a:t>Matching time · booking completion rate · worker utilization · average customer rating · verified worker profile share · booking completion time</a:t>
            </a:r>
            <a:endParaRPr lang="en-US" sz="1250" dirty="0"/>
          </a:p>
        </p:txBody>
      </p:sp>
      <p:sp>
        <p:nvSpPr>
          <p:cNvPr id="31" name="Text 29"/>
          <p:cNvSpPr/>
          <p:nvPr/>
        </p:nvSpPr>
        <p:spPr>
          <a:xfrm>
            <a:off x="3376330" y="6633270"/>
            <a:ext cx="8256579" cy="188516"/>
          </a:xfrm>
          <a:prstGeom prst="rect">
            <a:avLst/>
          </a:prstGeom>
          <a:noFill/>
          <a:ln/>
        </p:spPr>
        <p:txBody>
          <a:bodyPr wrap="none" lIns="0" tIns="0" rIns="0" bIns="0" rtlCol="0" anchor="t"/>
          <a:lstStyle/>
          <a:p>
            <a:pPr marL="0" indent="0" algn="l">
              <a:lnSpc>
                <a:spcPct val="112000"/>
              </a:lnSpc>
              <a:buNone/>
            </a:pPr>
            <a:r>
              <a:rPr lang="en-US" sz="1100" dirty="0">
                <a:solidFill>
                  <a:srgbClr val="536579"/>
                </a:solidFill>
                <a:latin typeface="Galdeano" pitchFamily="34" charset="0"/>
                <a:ea typeface="Galdeano" pitchFamily="34" charset="-122"/>
                <a:cs typeface="Galdeano" pitchFamily="34" charset="-120"/>
              </a:rPr>
              <a:t>Measures for the MVP workflow; no target percentages or invented results.</a:t>
            </a:r>
            <a:endParaRPr lang="en-US" sz="1100" dirty="0"/>
          </a:p>
        </p:txBody>
      </p:sp>
      <p:sp>
        <p:nvSpPr>
          <p:cNvPr id="32" name="Shape 30"/>
          <p:cNvSpPr/>
          <p:nvPr/>
        </p:nvSpPr>
        <p:spPr>
          <a:xfrm>
            <a:off x="4243777" y="1592362"/>
            <a:ext cx="12700" cy="1588691"/>
          </a:xfrm>
          <a:prstGeom prst="rect">
            <a:avLst/>
          </a:prstGeom>
          <a:solidFill>
            <a:srgbClr val="7EA6D8"/>
          </a:solidFill>
          <a:ln/>
        </p:spPr>
      </p:sp>
      <p:sp>
        <p:nvSpPr>
          <p:cNvPr id="33" name="Shape 31"/>
          <p:cNvSpPr/>
          <p:nvPr/>
        </p:nvSpPr>
        <p:spPr>
          <a:xfrm>
            <a:off x="7935119" y="1592362"/>
            <a:ext cx="12700" cy="1588691"/>
          </a:xfrm>
          <a:prstGeom prst="rect">
            <a:avLst/>
          </a:prstGeom>
          <a:solidFill>
            <a:srgbClr val="7EA6D8"/>
          </a:solidFill>
          <a:ln/>
        </p:spPr>
      </p:sp>
      <p:sp>
        <p:nvSpPr>
          <p:cNvPr id="34" name="Text 32"/>
          <p:cNvSpPr/>
          <p:nvPr/>
        </p:nvSpPr>
        <p:spPr>
          <a:xfrm>
            <a:off x="11482497" y="6516390"/>
            <a:ext cx="709198" cy="175220"/>
          </a:xfrm>
          <a:prstGeom prst="rect">
            <a:avLst/>
          </a:prstGeom>
          <a:noFill/>
          <a:ln/>
        </p:spPr>
        <p:txBody>
          <a:bodyPr wrap="none" lIns="0" tIns="0" rIns="0" bIns="0" rtlCol="0" anchor="ctr"/>
          <a:lstStyle/>
          <a:p>
            <a:pPr marL="0" indent="0" algn="l">
              <a:lnSpc>
                <a:spcPct val="115000"/>
              </a:lnSpc>
              <a:buNone/>
            </a:pPr>
            <a:r>
              <a:rPr lang="en-US" sz="1000" kern="0" spc="20" dirty="0">
                <a:solidFill>
                  <a:srgbClr val="536579"/>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54AD59-5F3D-4A53-8A42-368CE4246FE5}"/>
              </a:ext>
            </a:extLst>
          </p:cNvPr>
          <p:cNvSpPr/>
          <p:nvPr/>
        </p:nvSpPr>
        <p:spPr>
          <a:xfrm>
            <a:off x="10983489" y="6499820"/>
            <a:ext cx="1208206" cy="3581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558786" y="558800"/>
            <a:ext cx="11632909" cy="167580"/>
          </a:xfrm>
          <a:prstGeom prst="rect">
            <a:avLst/>
          </a:prstGeom>
          <a:noFill/>
          <a:ln/>
        </p:spPr>
        <p:txBody>
          <a:bodyPr wrap="none" lIns="0" tIns="0" rIns="0" bIns="0" rtlCol="0" anchor="t"/>
          <a:lstStyle/>
          <a:p>
            <a:pPr marL="0" indent="0" algn="l">
              <a:lnSpc>
                <a:spcPct val="100000"/>
              </a:lnSpc>
              <a:buNone/>
            </a:pPr>
            <a:r>
              <a:rPr lang="en-US" sz="1100" kern="0" spc="11" dirty="0">
                <a:solidFill>
                  <a:srgbClr val="536579"/>
                </a:solidFill>
                <a:latin typeface="Galdeano" pitchFamily="34" charset="0"/>
                <a:ea typeface="Galdeano" pitchFamily="34" charset="-122"/>
                <a:cs typeface="Galdeano" pitchFamily="34" charset="-120"/>
              </a:rPr>
              <a:t>05 · EVIDENCE BASE</a:t>
            </a:r>
            <a:endParaRPr lang="en-US" sz="1100" dirty="0"/>
          </a:p>
        </p:txBody>
      </p:sp>
      <p:sp>
        <p:nvSpPr>
          <p:cNvPr id="3" name="Text 1"/>
          <p:cNvSpPr/>
          <p:nvPr/>
        </p:nvSpPr>
        <p:spPr>
          <a:xfrm>
            <a:off x="558786" y="940296"/>
            <a:ext cx="11074123" cy="426641"/>
          </a:xfrm>
          <a:prstGeom prst="rect">
            <a:avLst/>
          </a:prstGeom>
          <a:noFill/>
          <a:ln/>
        </p:spPr>
        <p:txBody>
          <a:bodyPr wrap="none" lIns="0" tIns="0" rIns="0" bIns="0" rtlCol="0" anchor="t"/>
          <a:lstStyle/>
          <a:p>
            <a:pPr marL="0" indent="0" algn="l">
              <a:lnSpc>
                <a:spcPct val="93000"/>
              </a:lnSpc>
              <a:buNone/>
            </a:pPr>
            <a:r>
              <a:rPr lang="en-US" sz="3000" b="1" kern="0" spc="-45" dirty="0">
                <a:solidFill>
                  <a:srgbClr val="172A46"/>
                </a:solidFill>
                <a:latin typeface="Arial Bold" pitchFamily="34" charset="0"/>
                <a:ea typeface="Arial Bold" pitchFamily="34" charset="-122"/>
                <a:cs typeface="Arial Bold" pitchFamily="34" charset="-120"/>
              </a:rPr>
              <a:t>RESEARCH AND REFERENCES</a:t>
            </a:r>
            <a:endParaRPr lang="en-US" sz="3000" dirty="0"/>
          </a:p>
        </p:txBody>
      </p:sp>
      <p:sp>
        <p:nvSpPr>
          <p:cNvPr id="4" name="Text 2"/>
          <p:cNvSpPr/>
          <p:nvPr/>
        </p:nvSpPr>
        <p:spPr>
          <a:xfrm>
            <a:off x="558786" y="1592362"/>
            <a:ext cx="5257668" cy="4324350"/>
          </a:xfrm>
          <a:prstGeom prst="rect">
            <a:avLst/>
          </a:prstGeom>
          <a:noFill/>
          <a:ln/>
        </p:spPr>
        <p:txBody>
          <a:bodyPr wrap="square" lIns="0" tIns="0" rIns="0" bIns="0" rtlCol="0" anchor="t">
            <a:normAutofit/>
          </a:bodyPr>
          <a:lstStyle/>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Ministry of Cooperation, Government of India — National Cooperative Database / Ministry website.</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3">
                  <a:extLst>
                    <a:ext uri="{A12FA001-AC4F-418D-AE19-62706E023703}">
                      <ahyp:hlinkClr xmlns:ahyp="http://schemas.microsoft.com/office/drawing/2018/hyperlinkcolor" val="tx"/>
                    </a:ext>
                  </a:extLst>
                </a:hlinkClick>
              </a:rPr>
              <a:t>cooperation.gov.in</a:t>
            </a:r>
            <a:endParaRPr lang="en-US" sz="1250" dirty="0"/>
          </a:p>
          <a:p>
            <a:pPr marL="0" indent="0" algn="l">
              <a:lnSpc>
                <a:spcPct val="115000"/>
              </a:lnSpc>
              <a:spcAft>
                <a:spcPts val="950"/>
              </a:spcAft>
              <a:buNone/>
            </a:pPr>
            <a:r>
              <a:rPr lang="en-US" sz="1250" dirty="0">
                <a:solidFill>
                  <a:srgbClr val="536579"/>
                </a:solidFill>
                <a:latin typeface="Arial" pitchFamily="34" charset="0"/>
                <a:ea typeface="Arial" pitchFamily="34" charset="-122"/>
                <a:cs typeface="Arial" pitchFamily="34" charset="-120"/>
              </a:rPr>
              <a:t>Evidence: labour cooperative sector and current database listings.</a:t>
            </a:r>
            <a:endParaRPr lang="en-US" sz="1250" dirty="0"/>
          </a:p>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Ministry of Cooperation — National Cooperative Database 2023.</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4">
                  <a:extLst>
                    <a:ext uri="{A12FA001-AC4F-418D-AE19-62706E023703}">
                      <ahyp:hlinkClr xmlns:ahyp="http://schemas.microsoft.com/office/drawing/2018/hyperlinkcolor" val="tx"/>
                    </a:ext>
                  </a:extLst>
                </a:hlinkClick>
              </a:rPr>
              <a:t>Final National Cooperative Database 2023</a:t>
            </a:r>
            <a:endParaRPr lang="en-US" sz="1250" dirty="0"/>
          </a:p>
          <a:p>
            <a:pPr marL="0" indent="0" algn="l">
              <a:lnSpc>
                <a:spcPct val="115000"/>
              </a:lnSpc>
              <a:spcAft>
                <a:spcPts val="950"/>
              </a:spcAft>
              <a:buNone/>
            </a:pPr>
            <a:r>
              <a:rPr lang="en-US" sz="1250" dirty="0">
                <a:solidFill>
                  <a:srgbClr val="536579"/>
                </a:solidFill>
                <a:latin typeface="Arial" pitchFamily="34" charset="0"/>
                <a:ea typeface="Arial" pitchFamily="34" charset="-122"/>
                <a:cs typeface="Arial" pitchFamily="34" charset="-120"/>
              </a:rPr>
              <a:t>Evidence: documented labour cooperative societies and federations, including Maharashtra.</a:t>
            </a:r>
            <a:endParaRPr lang="en-US" sz="1250" dirty="0"/>
          </a:p>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NITI Aayog — India’s Booming Gig and Platform Economy: Perspectives and Recommendations on the Future of Work, June 2022.</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5">
                  <a:extLst>
                    <a:ext uri="{A12FA001-AC4F-418D-AE19-62706E023703}">
                      <ahyp:hlinkClr xmlns:ahyp="http://schemas.microsoft.com/office/drawing/2018/hyperlinkcolor" val="tx"/>
                    </a:ext>
                  </a:extLst>
                </a:hlinkClick>
              </a:rPr>
              <a:t>niti.gov.in/node/375</a:t>
            </a:r>
            <a:endParaRPr lang="en-US" sz="1250" dirty="0"/>
          </a:p>
          <a:p>
            <a:pPr marL="0" indent="0" algn="l">
              <a:lnSpc>
                <a:spcPct val="115000"/>
              </a:lnSpc>
              <a:spcAft>
                <a:spcPts val="950"/>
              </a:spcAft>
              <a:buNone/>
            </a:pPr>
            <a:r>
              <a:rPr lang="en-US" sz="1250" dirty="0">
                <a:solidFill>
                  <a:srgbClr val="536579"/>
                </a:solidFill>
                <a:latin typeface="Arial" pitchFamily="34" charset="0"/>
                <a:ea typeface="Arial" pitchFamily="34" charset="-122"/>
                <a:cs typeface="Arial" pitchFamily="34" charset="-120"/>
              </a:rPr>
              <a:t>Evidence: gig/platform economy, home/personal services, skills and social security.</a:t>
            </a:r>
            <a:endParaRPr lang="en-US" sz="1250" dirty="0"/>
          </a:p>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Ministry of Labour &amp; Employment / PIB — Social Security Measures for Gig and Platform Workers.</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6">
                  <a:extLst>
                    <a:ext uri="{A12FA001-AC4F-418D-AE19-62706E023703}">
                      <ahyp:hlinkClr xmlns:ahyp="http://schemas.microsoft.com/office/drawing/2018/hyperlinkcolor" val="tx"/>
                    </a:ext>
                  </a:extLst>
                </a:hlinkClick>
              </a:rPr>
              <a:t>labour.gov.in</a:t>
            </a:r>
            <a:endParaRPr lang="en-US" sz="1250" dirty="0"/>
          </a:p>
          <a:p>
            <a:pPr marL="0" indent="0" algn="l">
              <a:lnSpc>
                <a:spcPct val="115000"/>
              </a:lnSpc>
              <a:buNone/>
            </a:pPr>
            <a:r>
              <a:rPr lang="en-US" sz="1250" dirty="0">
                <a:solidFill>
                  <a:srgbClr val="536579"/>
                </a:solidFill>
                <a:latin typeface="Arial" pitchFamily="34" charset="0"/>
                <a:ea typeface="Arial" pitchFamily="34" charset="-122"/>
                <a:cs typeface="Arial" pitchFamily="34" charset="-120"/>
              </a:rPr>
              <a:t>Evidence: Code on Social Security provisions and e-Shram.</a:t>
            </a:r>
            <a:endParaRPr lang="en-US" sz="1250" dirty="0"/>
          </a:p>
        </p:txBody>
      </p:sp>
      <p:sp>
        <p:nvSpPr>
          <p:cNvPr id="5" name="Text 3"/>
          <p:cNvSpPr/>
          <p:nvPr/>
        </p:nvSpPr>
        <p:spPr>
          <a:xfrm>
            <a:off x="6375241" y="1592362"/>
            <a:ext cx="5257668" cy="4105275"/>
          </a:xfrm>
          <a:prstGeom prst="rect">
            <a:avLst/>
          </a:prstGeom>
          <a:noFill/>
          <a:ln/>
        </p:spPr>
        <p:txBody>
          <a:bodyPr wrap="square" lIns="0" tIns="0" rIns="0" bIns="0" rtlCol="0" anchor="t">
            <a:normAutofit/>
          </a:bodyPr>
          <a:lstStyle/>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e-Shram, Ministry of Labour &amp; Employment — Official portal and objectives.</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7">
                  <a:extLst>
                    <a:ext uri="{A12FA001-AC4F-418D-AE19-62706E023703}">
                      <ahyp:hlinkClr xmlns:ahyp="http://schemas.microsoft.com/office/drawing/2018/hyperlinkcolor" val="tx"/>
                    </a:ext>
                  </a:extLst>
                </a:hlinkClick>
              </a:rPr>
              <a:t>eshram.gov.in</a:t>
            </a:r>
            <a:endParaRPr lang="en-US" sz="1250" dirty="0"/>
          </a:p>
          <a:p>
            <a:pPr marL="0" indent="0" algn="l">
              <a:lnSpc>
                <a:spcPct val="115000"/>
              </a:lnSpc>
              <a:spcAft>
                <a:spcPts val="950"/>
              </a:spcAft>
              <a:buNone/>
            </a:pPr>
            <a:r>
              <a:rPr lang="en-US" sz="1250" dirty="0">
                <a:solidFill>
                  <a:srgbClr val="536579"/>
                </a:solidFill>
                <a:latin typeface="Arial" pitchFamily="34" charset="0"/>
                <a:ea typeface="Arial" pitchFamily="34" charset="-122"/>
                <a:cs typeface="Arial" pitchFamily="34" charset="-120"/>
              </a:rPr>
              <a:t>Evidence: national database including domestic, gig and platform workers; occupation/skill data and welfare integration.</a:t>
            </a:r>
            <a:endParaRPr lang="en-US" sz="1250" dirty="0"/>
          </a:p>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ONDC — Skilled Services.</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8">
                  <a:extLst>
                    <a:ext uri="{A12FA001-AC4F-418D-AE19-62706E023703}">
                      <ahyp:hlinkClr xmlns:ahyp="http://schemas.microsoft.com/office/drawing/2018/hyperlinkcolor" val="tx"/>
                    </a:ext>
                  </a:extLst>
                </a:hlinkClick>
              </a:rPr>
              <a:t>resources.ondc.org/services</a:t>
            </a:r>
            <a:endParaRPr lang="en-US" sz="1250" dirty="0"/>
          </a:p>
          <a:p>
            <a:pPr marL="0" indent="0" algn="l">
              <a:lnSpc>
                <a:spcPct val="115000"/>
              </a:lnSpc>
              <a:spcAft>
                <a:spcPts val="950"/>
              </a:spcAft>
              <a:buNone/>
            </a:pPr>
            <a:r>
              <a:rPr lang="en-US" sz="1250" dirty="0">
                <a:solidFill>
                  <a:srgbClr val="536579"/>
                </a:solidFill>
                <a:latin typeface="Arial" pitchFamily="34" charset="0"/>
                <a:ea typeface="Arial" pitchFamily="34" charset="-122"/>
                <a:cs typeface="Arial" pitchFamily="34" charset="-120"/>
              </a:rPr>
              <a:t>Evidence: digital network model for household/local skilled services.</a:t>
            </a:r>
            <a:endParaRPr lang="en-US" sz="1250" dirty="0"/>
          </a:p>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International Labour Organization — Platform workers in India / social protection research.</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9">
                  <a:extLst>
                    <a:ext uri="{A12FA001-AC4F-418D-AE19-62706E023703}">
                      <ahyp:hlinkClr xmlns:ahyp="http://schemas.microsoft.com/office/drawing/2018/hyperlinkcolor" val="tx"/>
                    </a:ext>
                  </a:extLst>
                </a:hlinkClick>
              </a:rPr>
              <a:t>ilo.org</a:t>
            </a:r>
            <a:endParaRPr lang="en-US" sz="1250" dirty="0"/>
          </a:p>
          <a:p>
            <a:pPr marL="0" indent="0" algn="l">
              <a:lnSpc>
                <a:spcPct val="115000"/>
              </a:lnSpc>
              <a:spcAft>
                <a:spcPts val="950"/>
              </a:spcAft>
              <a:buNone/>
            </a:pPr>
            <a:r>
              <a:rPr lang="en-US" sz="1250" dirty="0">
                <a:solidFill>
                  <a:srgbClr val="536579"/>
                </a:solidFill>
                <a:latin typeface="Arial" pitchFamily="34" charset="0"/>
                <a:ea typeface="Arial" pitchFamily="34" charset="-122"/>
                <a:cs typeface="Arial" pitchFamily="34" charset="-120"/>
              </a:rPr>
              <a:t>Evidence: worker welfare and social protection considerations.</a:t>
            </a:r>
            <a:endParaRPr lang="en-US" sz="1250" dirty="0"/>
          </a:p>
          <a:p>
            <a:pPr marL="0" indent="0" algn="l">
              <a:lnSpc>
                <a:spcPct val="115000"/>
              </a:lnSpc>
              <a:buNone/>
            </a:pPr>
            <a:r>
              <a:rPr lang="en-US" sz="1250" b="1" dirty="0">
                <a:solidFill>
                  <a:srgbClr val="172A46"/>
                </a:solidFill>
                <a:latin typeface="Arial Bold" pitchFamily="34" charset="0"/>
                <a:ea typeface="Arial Bold" pitchFamily="34" charset="-122"/>
                <a:cs typeface="Arial Bold" pitchFamily="34" charset="-120"/>
              </a:rPr>
              <a:t>Indian Institute for Human Settlements — Aditi Surie, On-demand platforms and pricing, 2020.</a:t>
            </a:r>
            <a:endParaRPr lang="en-US" sz="1250" dirty="0"/>
          </a:p>
          <a:p>
            <a:pPr marL="0" indent="0" algn="l">
              <a:lnSpc>
                <a:spcPct val="115000"/>
              </a:lnSpc>
              <a:buNone/>
            </a:pPr>
            <a:r>
              <a:rPr lang="en-US" sz="1250" b="1" u="sng" dirty="0">
                <a:solidFill>
                  <a:srgbClr val="1D4E89"/>
                </a:solidFill>
                <a:latin typeface="Arial Bold" pitchFamily="34" charset="0"/>
                <a:ea typeface="Arial Bold" pitchFamily="34" charset="-122"/>
                <a:cs typeface="Arial Bold" pitchFamily="34" charset="-120"/>
                <a:hlinkClick r:id="rId10">
                  <a:extLst>
                    <a:ext uri="{A12FA001-AC4F-418D-AE19-62706E023703}">
                      <ahyp:hlinkClr xmlns:ahyp="http://schemas.microsoft.com/office/drawing/2018/hyperlinkcolor" val="tx"/>
                    </a:ext>
                  </a:extLst>
                </a:hlinkClick>
              </a:rPr>
              <a:t>IIHS publication</a:t>
            </a:r>
            <a:endParaRPr lang="en-US" sz="1250" dirty="0"/>
          </a:p>
          <a:p>
            <a:pPr marL="0" indent="0" algn="l">
              <a:lnSpc>
                <a:spcPct val="115000"/>
              </a:lnSpc>
              <a:buNone/>
            </a:pPr>
            <a:r>
              <a:rPr lang="en-US" sz="1250" dirty="0">
                <a:solidFill>
                  <a:srgbClr val="536579"/>
                </a:solidFill>
                <a:latin typeface="Arial" pitchFamily="34" charset="0"/>
                <a:ea typeface="Arial" pitchFamily="34" charset="-122"/>
                <a:cs typeface="Arial" pitchFamily="34" charset="-120"/>
              </a:rPr>
              <a:t>Evidence: carpentry, electrical work, plumbing and home-service platforms in Bengaluru.</a:t>
            </a:r>
            <a:endParaRPr lang="en-US" sz="1250" dirty="0"/>
          </a:p>
        </p:txBody>
      </p:sp>
      <p:sp>
        <p:nvSpPr>
          <p:cNvPr id="6" name="Text 4"/>
          <p:cNvSpPr/>
          <p:nvPr/>
        </p:nvSpPr>
        <p:spPr>
          <a:xfrm>
            <a:off x="558786" y="6221512"/>
            <a:ext cx="7111822" cy="377031"/>
          </a:xfrm>
          <a:prstGeom prst="rect">
            <a:avLst/>
          </a:prstGeom>
          <a:noFill/>
          <a:ln/>
        </p:spPr>
        <p:txBody>
          <a:bodyPr wrap="square" lIns="0" tIns="0" rIns="0" bIns="0" rtlCol="0" anchor="t">
            <a:normAutofit/>
          </a:bodyPr>
          <a:lstStyle/>
          <a:p>
            <a:pPr marL="0" indent="0" algn="l">
              <a:lnSpc>
                <a:spcPct val="112000"/>
              </a:lnSpc>
              <a:buNone/>
            </a:pPr>
            <a:r>
              <a:rPr lang="en-US" sz="1100" dirty="0">
                <a:solidFill>
                  <a:srgbClr val="536579"/>
                </a:solidFill>
                <a:latin typeface="Galdeano" pitchFamily="34" charset="0"/>
                <a:ea typeface="Galdeano" pitchFamily="34" charset="-122"/>
                <a:cs typeface="Galdeano" pitchFamily="34" charset="-120"/>
              </a:rPr>
              <a:t>Existing capabilities and proposed enhancements are clearly separated. Statistics and factual claims are cited to their respective sources.</a:t>
            </a:r>
            <a:endParaRPr lang="en-US" sz="1100" dirty="0"/>
          </a:p>
        </p:txBody>
      </p:sp>
      <p:sp>
        <p:nvSpPr>
          <p:cNvPr id="7" name="Shape 5"/>
          <p:cNvSpPr/>
          <p:nvPr/>
        </p:nvSpPr>
        <p:spPr>
          <a:xfrm>
            <a:off x="6089498" y="1592362"/>
            <a:ext cx="12700" cy="4324350"/>
          </a:xfrm>
          <a:prstGeom prst="rect">
            <a:avLst/>
          </a:prstGeom>
          <a:solidFill>
            <a:srgbClr val="7EA6D8"/>
          </a:solidFill>
          <a:ln/>
        </p:spPr>
      </p:sp>
      <p:sp>
        <p:nvSpPr>
          <p:cNvPr id="8" name="Text 6"/>
          <p:cNvSpPr/>
          <p:nvPr/>
        </p:nvSpPr>
        <p:spPr>
          <a:xfrm>
            <a:off x="11482497" y="6516390"/>
            <a:ext cx="709198" cy="175220"/>
          </a:xfrm>
          <a:prstGeom prst="rect">
            <a:avLst/>
          </a:prstGeom>
          <a:noFill/>
          <a:ln/>
        </p:spPr>
        <p:txBody>
          <a:bodyPr wrap="none" lIns="0" tIns="0" rIns="0" bIns="0" rtlCol="0" anchor="ctr"/>
          <a:lstStyle/>
          <a:p>
            <a:pPr marL="0" indent="0" algn="l">
              <a:lnSpc>
                <a:spcPct val="115000"/>
              </a:lnSpc>
              <a:buNone/>
            </a:pPr>
            <a:r>
              <a:rPr lang="en-US" sz="1000" kern="0" spc="20" dirty="0">
                <a:solidFill>
                  <a:srgbClr val="536579"/>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D4E89"/>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1187</Words>
  <Application>Microsoft Office PowerPoint</Application>
  <PresentationFormat>Widescreen</PresentationFormat>
  <Paragraphs>164</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Arial Bold</vt:lpstr>
      <vt:lpstr>Arial</vt:lpstr>
      <vt:lpstr>Galdeano</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Omkar Zad</dc:creator>
  <cp:lastModifiedBy>Omkar Zad</cp:lastModifiedBy>
  <cp:revision>4</cp:revision>
  <dcterms:created xsi:type="dcterms:W3CDTF">2026-09-22T16:40:18Z</dcterms:created>
  <dcterms:modified xsi:type="dcterms:W3CDTF">2026-09-22T16:46:06Z</dcterms:modified>
</cp:coreProperties>
</file>